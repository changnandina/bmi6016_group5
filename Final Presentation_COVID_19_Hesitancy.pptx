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62" r:id="rId3"/>
    <p:sldId id="266" r:id="rId4"/>
    <p:sldId id="264" r:id="rId5"/>
    <p:sldId id="268" r:id="rId6"/>
    <p:sldId id="269" r:id="rId7"/>
    <p:sldId id="258" r:id="rId8"/>
    <p:sldId id="259" r:id="rId9"/>
    <p:sldId id="277" r:id="rId10"/>
    <p:sldId id="282" r:id="rId11"/>
    <p:sldId id="280" r:id="rId12"/>
    <p:sldId id="261" r:id="rId13"/>
    <p:sldId id="283" r:id="rId14"/>
    <p:sldId id="272" r:id="rId15"/>
    <p:sldId id="267" r:id="rId16"/>
    <p:sldId id="284" r:id="rId17"/>
    <p:sldId id="275" r:id="rId18"/>
    <p:sldId id="276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D30E24-D012-E058-2153-34B6732AA93B}" v="1220" dt="2026-04-19T22:58:52.479"/>
    <p1510:client id="{CD11548F-F2C8-1150-AB65-D5DEAB7F6FB9}" v="3" dt="2026-04-20T22:48:07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3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150032-BCDA-4CFC-9ADF-09626F538D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F6A940B-718B-4B79-B950-F3B5AA8E34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Answer whether individual vaccine attitudes, at a state or county level, correlate to COVID-19 death rates within a reasonable time frame (2020-2022). </a:t>
          </a:r>
        </a:p>
      </dgm:t>
    </dgm:pt>
    <dgm:pt modelId="{DCF060FA-EFA5-449D-BE89-F7D82F216671}" type="parTrans" cxnId="{F8A02F18-2C0D-4157-BB7E-F0B52DD9FD0D}">
      <dgm:prSet/>
      <dgm:spPr/>
      <dgm:t>
        <a:bodyPr/>
        <a:lstStyle/>
        <a:p>
          <a:endParaRPr lang="en-US"/>
        </a:p>
      </dgm:t>
    </dgm:pt>
    <dgm:pt modelId="{AA5BF6DD-AAEA-45F1-971E-E561F289FEBB}" type="sibTrans" cxnId="{F8A02F18-2C0D-4157-BB7E-F0B52DD9FD0D}">
      <dgm:prSet/>
      <dgm:spPr/>
      <dgm:t>
        <a:bodyPr/>
        <a:lstStyle/>
        <a:p>
          <a:endParaRPr lang="en-US"/>
        </a:p>
      </dgm:t>
    </dgm:pt>
    <dgm:pt modelId="{2E962ACB-C8A9-4C02-A54B-A822079982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learn how individual health decisions and/or social determinants of health can affect community health on a large scale, and how this applies to disinformation, health information policy, and incentives to make well-informed decisions. </a:t>
          </a:r>
        </a:p>
      </dgm:t>
    </dgm:pt>
    <dgm:pt modelId="{BB850D6D-D73D-4A7C-837B-82FB9B7EDE4D}" type="parTrans" cxnId="{ED598F33-5AEA-41CD-96B9-EC5A5CEE0B59}">
      <dgm:prSet/>
      <dgm:spPr/>
      <dgm:t>
        <a:bodyPr/>
        <a:lstStyle/>
        <a:p>
          <a:endParaRPr lang="en-US"/>
        </a:p>
      </dgm:t>
    </dgm:pt>
    <dgm:pt modelId="{1A42A165-CE04-4691-A632-22689E5D4751}" type="sibTrans" cxnId="{ED598F33-5AEA-41CD-96B9-EC5A5CEE0B59}">
      <dgm:prSet/>
      <dgm:spPr/>
      <dgm:t>
        <a:bodyPr/>
        <a:lstStyle/>
        <a:p>
          <a:endParaRPr lang="en-US"/>
        </a:p>
      </dgm:t>
    </dgm:pt>
    <dgm:pt modelId="{01219CC9-7D7A-4AA6-93D9-D4A4FB08B4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aggregate and clean data to answer further  meaningful questions  about COVD-19 vaccine hesitancy, SDOH,  and outcomes</a:t>
          </a:r>
        </a:p>
      </dgm:t>
    </dgm:pt>
    <dgm:pt modelId="{16486FD1-F4F7-44C9-9688-C537470D2B75}" type="parTrans" cxnId="{C01AA456-CAD3-498B-A696-C096E861C91D}">
      <dgm:prSet/>
      <dgm:spPr/>
      <dgm:t>
        <a:bodyPr/>
        <a:lstStyle/>
        <a:p>
          <a:endParaRPr lang="en-US"/>
        </a:p>
      </dgm:t>
    </dgm:pt>
    <dgm:pt modelId="{38D001CF-6740-42C4-AD8F-2739487AE76E}" type="sibTrans" cxnId="{C01AA456-CAD3-498B-A696-C096E861C91D}">
      <dgm:prSet/>
      <dgm:spPr/>
      <dgm:t>
        <a:bodyPr/>
        <a:lstStyle/>
        <a:p>
          <a:endParaRPr lang="en-US"/>
        </a:p>
      </dgm:t>
    </dgm:pt>
    <dgm:pt modelId="{C40EE222-435A-41B2-B75F-7AF3F0EB8C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Brief analysis to observe any correlations or statistical significance between vaccine hesitancy, SDOH, and county death rates. </a:t>
          </a:r>
        </a:p>
      </dgm:t>
    </dgm:pt>
    <dgm:pt modelId="{9515AEA7-F5B0-4875-9B0E-6097F6E2DDA8}" type="parTrans" cxnId="{99BFAC0A-C8E0-46C7-8B34-F72878FD1AA7}">
      <dgm:prSet/>
      <dgm:spPr/>
      <dgm:t>
        <a:bodyPr/>
        <a:lstStyle/>
        <a:p>
          <a:endParaRPr lang="en-US"/>
        </a:p>
      </dgm:t>
    </dgm:pt>
    <dgm:pt modelId="{D245CBD6-F980-4744-9D89-FC06D295C36F}" type="sibTrans" cxnId="{99BFAC0A-C8E0-46C7-8B34-F72878FD1AA7}">
      <dgm:prSet/>
      <dgm:spPr/>
      <dgm:t>
        <a:bodyPr/>
        <a:lstStyle/>
        <a:p>
          <a:endParaRPr lang="en-US"/>
        </a:p>
      </dgm:t>
    </dgm:pt>
    <dgm:pt modelId="{F3D714A4-A997-44B5-9C1F-2E940163B89F}" type="pres">
      <dgm:prSet presAssocID="{8E150032-BCDA-4CFC-9ADF-09626F538DE1}" presName="root" presStyleCnt="0">
        <dgm:presLayoutVars>
          <dgm:dir/>
          <dgm:resizeHandles val="exact"/>
        </dgm:presLayoutVars>
      </dgm:prSet>
      <dgm:spPr/>
    </dgm:pt>
    <dgm:pt modelId="{61503DC8-FFB1-44A8-B08F-638E91F1B8A6}" type="pres">
      <dgm:prSet presAssocID="{01219CC9-7D7A-4AA6-93D9-D4A4FB08B46A}" presName="compNode" presStyleCnt="0"/>
      <dgm:spPr/>
    </dgm:pt>
    <dgm:pt modelId="{16B8D1E1-5FD0-4382-B3D0-7B8BAFBF359A}" type="pres">
      <dgm:prSet presAssocID="{01219CC9-7D7A-4AA6-93D9-D4A4FB08B46A}" presName="bgRect" presStyleLbl="bgShp" presStyleIdx="0" presStyleCnt="4"/>
      <dgm:spPr/>
    </dgm:pt>
    <dgm:pt modelId="{BECB2137-E91F-4BB4-8F7D-F710BF321093}" type="pres">
      <dgm:prSet presAssocID="{01219CC9-7D7A-4AA6-93D9-D4A4FB08B46A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FF178878-C48D-41CB-932F-21D93934A84C}" type="pres">
      <dgm:prSet presAssocID="{01219CC9-7D7A-4AA6-93D9-D4A4FB08B46A}" presName="spaceRect" presStyleCnt="0"/>
      <dgm:spPr/>
    </dgm:pt>
    <dgm:pt modelId="{7A4FC50E-5BA4-4F5D-BCBF-FC78418081E2}" type="pres">
      <dgm:prSet presAssocID="{01219CC9-7D7A-4AA6-93D9-D4A4FB08B46A}" presName="parTx" presStyleLbl="revTx" presStyleIdx="0" presStyleCnt="4">
        <dgm:presLayoutVars>
          <dgm:chMax val="0"/>
          <dgm:chPref val="0"/>
        </dgm:presLayoutVars>
      </dgm:prSet>
      <dgm:spPr/>
    </dgm:pt>
    <dgm:pt modelId="{F8ECFAF4-F69E-4BEB-BE61-92C8455D791A}" type="pres">
      <dgm:prSet presAssocID="{38D001CF-6740-42C4-AD8F-2739487AE76E}" presName="sibTrans" presStyleCnt="0"/>
      <dgm:spPr/>
    </dgm:pt>
    <dgm:pt modelId="{C9DFD8F6-3832-44DD-A101-DB2C678F1E60}" type="pres">
      <dgm:prSet presAssocID="{FF6A940B-718B-4B79-B950-F3B5AA8E3417}" presName="compNode" presStyleCnt="0"/>
      <dgm:spPr/>
    </dgm:pt>
    <dgm:pt modelId="{53A8BC1B-F337-4C9B-B887-032A1189A7B9}" type="pres">
      <dgm:prSet presAssocID="{FF6A940B-718B-4B79-B950-F3B5AA8E3417}" presName="bgRect" presStyleLbl="bgShp" presStyleIdx="1" presStyleCnt="4"/>
      <dgm:spPr/>
    </dgm:pt>
    <dgm:pt modelId="{105CCA76-E98C-40DE-A317-97CE57C1BADD}" type="pres">
      <dgm:prSet presAssocID="{FF6A940B-718B-4B79-B950-F3B5AA8E341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C205BCDC-E0F1-4685-80B3-6F0360838664}" type="pres">
      <dgm:prSet presAssocID="{FF6A940B-718B-4B79-B950-F3B5AA8E3417}" presName="spaceRect" presStyleCnt="0"/>
      <dgm:spPr/>
    </dgm:pt>
    <dgm:pt modelId="{1F3D5459-C74C-42ED-9B80-EA2C59DC7773}" type="pres">
      <dgm:prSet presAssocID="{FF6A940B-718B-4B79-B950-F3B5AA8E3417}" presName="parTx" presStyleLbl="revTx" presStyleIdx="1" presStyleCnt="4">
        <dgm:presLayoutVars>
          <dgm:chMax val="0"/>
          <dgm:chPref val="0"/>
        </dgm:presLayoutVars>
      </dgm:prSet>
      <dgm:spPr/>
    </dgm:pt>
    <dgm:pt modelId="{AA1E2356-A3E8-4D05-9BE5-9784D09EC1B5}" type="pres">
      <dgm:prSet presAssocID="{AA5BF6DD-AAEA-45F1-971E-E561F289FEBB}" presName="sibTrans" presStyleCnt="0"/>
      <dgm:spPr/>
    </dgm:pt>
    <dgm:pt modelId="{1B1A0D2B-CF5B-4A80-A781-BFE4835B7A6B}" type="pres">
      <dgm:prSet presAssocID="{2E962ACB-C8A9-4C02-A54B-A822079982D8}" presName="compNode" presStyleCnt="0"/>
      <dgm:spPr/>
    </dgm:pt>
    <dgm:pt modelId="{C88AE85E-A6B3-4973-9CEA-3AD7A4371BE6}" type="pres">
      <dgm:prSet presAssocID="{2E962ACB-C8A9-4C02-A54B-A822079982D8}" presName="bgRect" presStyleLbl="bgShp" presStyleIdx="2" presStyleCnt="4"/>
      <dgm:spPr/>
    </dgm:pt>
    <dgm:pt modelId="{1DB050B6-C4C3-4AFA-92FA-E8B908600EFE}" type="pres">
      <dgm:prSet presAssocID="{2E962ACB-C8A9-4C02-A54B-A822079982D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F1AA69F6-915C-404F-A979-C16D74040AB6}" type="pres">
      <dgm:prSet presAssocID="{2E962ACB-C8A9-4C02-A54B-A822079982D8}" presName="spaceRect" presStyleCnt="0"/>
      <dgm:spPr/>
    </dgm:pt>
    <dgm:pt modelId="{1C0E8BB1-7ABD-4824-B2E7-DE2D2B6B79E7}" type="pres">
      <dgm:prSet presAssocID="{2E962ACB-C8A9-4C02-A54B-A822079982D8}" presName="parTx" presStyleLbl="revTx" presStyleIdx="2" presStyleCnt="4">
        <dgm:presLayoutVars>
          <dgm:chMax val="0"/>
          <dgm:chPref val="0"/>
        </dgm:presLayoutVars>
      </dgm:prSet>
      <dgm:spPr/>
    </dgm:pt>
    <dgm:pt modelId="{AD66C100-A155-4DC1-A180-37B7D92614D3}" type="pres">
      <dgm:prSet presAssocID="{1A42A165-CE04-4691-A632-22689E5D4751}" presName="sibTrans" presStyleCnt="0"/>
      <dgm:spPr/>
    </dgm:pt>
    <dgm:pt modelId="{4E6C5003-913F-4ECD-A163-A81453D3F161}" type="pres">
      <dgm:prSet presAssocID="{C40EE222-435A-41B2-B75F-7AF3F0EB8C38}" presName="compNode" presStyleCnt="0"/>
      <dgm:spPr/>
    </dgm:pt>
    <dgm:pt modelId="{D029B2A4-6B70-4A46-B71C-6184DB2BF7A2}" type="pres">
      <dgm:prSet presAssocID="{C40EE222-435A-41B2-B75F-7AF3F0EB8C38}" presName="bgRect" presStyleLbl="bgShp" presStyleIdx="3" presStyleCnt="4"/>
      <dgm:spPr/>
    </dgm:pt>
    <dgm:pt modelId="{1C221570-E673-4F04-B014-A383EFD1EDC4}" type="pres">
      <dgm:prSet presAssocID="{C40EE222-435A-41B2-B75F-7AF3F0EB8C38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tterplot with solid fill"/>
        </a:ext>
      </dgm:extLst>
    </dgm:pt>
    <dgm:pt modelId="{3EF0C00E-6B80-459E-B64E-4C023C20CB91}" type="pres">
      <dgm:prSet presAssocID="{C40EE222-435A-41B2-B75F-7AF3F0EB8C38}" presName="spaceRect" presStyleCnt="0"/>
      <dgm:spPr/>
    </dgm:pt>
    <dgm:pt modelId="{E38BB290-F014-4344-8C46-661BE24671C8}" type="pres">
      <dgm:prSet presAssocID="{C40EE222-435A-41B2-B75F-7AF3F0EB8C3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9CEE02-40DE-8045-81FE-BA56EE202A31}" type="presOf" srcId="{FF6A940B-718B-4B79-B950-F3B5AA8E3417}" destId="{1F3D5459-C74C-42ED-9B80-EA2C59DC7773}" srcOrd="0" destOrd="0" presId="urn:microsoft.com/office/officeart/2018/2/layout/IconVerticalSolidList"/>
    <dgm:cxn modelId="{99BFAC0A-C8E0-46C7-8B34-F72878FD1AA7}" srcId="{8E150032-BCDA-4CFC-9ADF-09626F538DE1}" destId="{C40EE222-435A-41B2-B75F-7AF3F0EB8C38}" srcOrd="3" destOrd="0" parTransId="{9515AEA7-F5B0-4875-9B0E-6097F6E2DDA8}" sibTransId="{D245CBD6-F980-4744-9D89-FC06D295C36F}"/>
    <dgm:cxn modelId="{F8A02F18-2C0D-4157-BB7E-F0B52DD9FD0D}" srcId="{8E150032-BCDA-4CFC-9ADF-09626F538DE1}" destId="{FF6A940B-718B-4B79-B950-F3B5AA8E3417}" srcOrd="1" destOrd="0" parTransId="{DCF060FA-EFA5-449D-BE89-F7D82F216671}" sibTransId="{AA5BF6DD-AAEA-45F1-971E-E561F289FEBB}"/>
    <dgm:cxn modelId="{ED598F33-5AEA-41CD-96B9-EC5A5CEE0B59}" srcId="{8E150032-BCDA-4CFC-9ADF-09626F538DE1}" destId="{2E962ACB-C8A9-4C02-A54B-A822079982D8}" srcOrd="2" destOrd="0" parTransId="{BB850D6D-D73D-4A7C-837B-82FB9B7EDE4D}" sibTransId="{1A42A165-CE04-4691-A632-22689E5D4751}"/>
    <dgm:cxn modelId="{C01AA456-CAD3-498B-A696-C096E861C91D}" srcId="{8E150032-BCDA-4CFC-9ADF-09626F538DE1}" destId="{01219CC9-7D7A-4AA6-93D9-D4A4FB08B46A}" srcOrd="0" destOrd="0" parTransId="{16486FD1-F4F7-44C9-9688-C537470D2B75}" sibTransId="{38D001CF-6740-42C4-AD8F-2739487AE76E}"/>
    <dgm:cxn modelId="{5B95497D-AF67-3E42-B90C-B4DD43D4831F}" type="presOf" srcId="{C40EE222-435A-41B2-B75F-7AF3F0EB8C38}" destId="{E38BB290-F014-4344-8C46-661BE24671C8}" srcOrd="0" destOrd="0" presId="urn:microsoft.com/office/officeart/2018/2/layout/IconVerticalSolidList"/>
    <dgm:cxn modelId="{69CB4090-B18E-384F-B864-594A0257B057}" type="presOf" srcId="{2E962ACB-C8A9-4C02-A54B-A822079982D8}" destId="{1C0E8BB1-7ABD-4824-B2E7-DE2D2B6B79E7}" srcOrd="0" destOrd="0" presId="urn:microsoft.com/office/officeart/2018/2/layout/IconVerticalSolidList"/>
    <dgm:cxn modelId="{C1640095-6565-D444-95F4-6BDEBC132CA1}" type="presOf" srcId="{01219CC9-7D7A-4AA6-93D9-D4A4FB08B46A}" destId="{7A4FC50E-5BA4-4F5D-BCBF-FC78418081E2}" srcOrd="0" destOrd="0" presId="urn:microsoft.com/office/officeart/2018/2/layout/IconVerticalSolidList"/>
    <dgm:cxn modelId="{9563D1CE-8919-416F-A333-2E271436189B}" type="presOf" srcId="{8E150032-BCDA-4CFC-9ADF-09626F538DE1}" destId="{F3D714A4-A997-44B5-9C1F-2E940163B89F}" srcOrd="0" destOrd="0" presId="urn:microsoft.com/office/officeart/2018/2/layout/IconVerticalSolidList"/>
    <dgm:cxn modelId="{1A083D50-AC1C-C44C-872C-E0813E236878}" type="presParOf" srcId="{F3D714A4-A997-44B5-9C1F-2E940163B89F}" destId="{61503DC8-FFB1-44A8-B08F-638E91F1B8A6}" srcOrd="0" destOrd="0" presId="urn:microsoft.com/office/officeart/2018/2/layout/IconVerticalSolidList"/>
    <dgm:cxn modelId="{ED856EC4-8CA2-304C-AF86-5F6CE425201D}" type="presParOf" srcId="{61503DC8-FFB1-44A8-B08F-638E91F1B8A6}" destId="{16B8D1E1-5FD0-4382-B3D0-7B8BAFBF359A}" srcOrd="0" destOrd="0" presId="urn:microsoft.com/office/officeart/2018/2/layout/IconVerticalSolidList"/>
    <dgm:cxn modelId="{CCBD358B-A7CA-9740-BF33-4DE83DB1F1A0}" type="presParOf" srcId="{61503DC8-FFB1-44A8-B08F-638E91F1B8A6}" destId="{BECB2137-E91F-4BB4-8F7D-F710BF321093}" srcOrd="1" destOrd="0" presId="urn:microsoft.com/office/officeart/2018/2/layout/IconVerticalSolidList"/>
    <dgm:cxn modelId="{21EE5C04-D58E-D34C-B6A5-C27F15145855}" type="presParOf" srcId="{61503DC8-FFB1-44A8-B08F-638E91F1B8A6}" destId="{FF178878-C48D-41CB-932F-21D93934A84C}" srcOrd="2" destOrd="0" presId="urn:microsoft.com/office/officeart/2018/2/layout/IconVerticalSolidList"/>
    <dgm:cxn modelId="{5A275B2A-9538-D146-A7A3-98B7344661A6}" type="presParOf" srcId="{61503DC8-FFB1-44A8-B08F-638E91F1B8A6}" destId="{7A4FC50E-5BA4-4F5D-BCBF-FC78418081E2}" srcOrd="3" destOrd="0" presId="urn:microsoft.com/office/officeart/2018/2/layout/IconVerticalSolidList"/>
    <dgm:cxn modelId="{5F0160E7-7860-C045-91A7-A239A63DF51F}" type="presParOf" srcId="{F3D714A4-A997-44B5-9C1F-2E940163B89F}" destId="{F8ECFAF4-F69E-4BEB-BE61-92C8455D791A}" srcOrd="1" destOrd="0" presId="urn:microsoft.com/office/officeart/2018/2/layout/IconVerticalSolidList"/>
    <dgm:cxn modelId="{083A5480-EDC7-5B4F-98EB-6CF12029D309}" type="presParOf" srcId="{F3D714A4-A997-44B5-9C1F-2E940163B89F}" destId="{C9DFD8F6-3832-44DD-A101-DB2C678F1E60}" srcOrd="2" destOrd="0" presId="urn:microsoft.com/office/officeart/2018/2/layout/IconVerticalSolidList"/>
    <dgm:cxn modelId="{4C817BE1-4379-C849-A1D8-C95580151ED7}" type="presParOf" srcId="{C9DFD8F6-3832-44DD-A101-DB2C678F1E60}" destId="{53A8BC1B-F337-4C9B-B887-032A1189A7B9}" srcOrd="0" destOrd="0" presId="urn:microsoft.com/office/officeart/2018/2/layout/IconVerticalSolidList"/>
    <dgm:cxn modelId="{E7252C20-9D15-DB4D-A267-8A29438AE0C3}" type="presParOf" srcId="{C9DFD8F6-3832-44DD-A101-DB2C678F1E60}" destId="{105CCA76-E98C-40DE-A317-97CE57C1BADD}" srcOrd="1" destOrd="0" presId="urn:microsoft.com/office/officeart/2018/2/layout/IconVerticalSolidList"/>
    <dgm:cxn modelId="{03E0ABBA-2040-7E49-829B-72563DC04A02}" type="presParOf" srcId="{C9DFD8F6-3832-44DD-A101-DB2C678F1E60}" destId="{C205BCDC-E0F1-4685-80B3-6F0360838664}" srcOrd="2" destOrd="0" presId="urn:microsoft.com/office/officeart/2018/2/layout/IconVerticalSolidList"/>
    <dgm:cxn modelId="{F8214B2B-D86D-0048-9E7C-24BD13F7BA57}" type="presParOf" srcId="{C9DFD8F6-3832-44DD-A101-DB2C678F1E60}" destId="{1F3D5459-C74C-42ED-9B80-EA2C59DC7773}" srcOrd="3" destOrd="0" presId="urn:microsoft.com/office/officeart/2018/2/layout/IconVerticalSolidList"/>
    <dgm:cxn modelId="{8FA497C3-20FB-8E43-A26F-7A9BEC77DE50}" type="presParOf" srcId="{F3D714A4-A997-44B5-9C1F-2E940163B89F}" destId="{AA1E2356-A3E8-4D05-9BE5-9784D09EC1B5}" srcOrd="3" destOrd="0" presId="urn:microsoft.com/office/officeart/2018/2/layout/IconVerticalSolidList"/>
    <dgm:cxn modelId="{A9FE2515-4094-3742-A8AA-3571978ABBDE}" type="presParOf" srcId="{F3D714A4-A997-44B5-9C1F-2E940163B89F}" destId="{1B1A0D2B-CF5B-4A80-A781-BFE4835B7A6B}" srcOrd="4" destOrd="0" presId="urn:microsoft.com/office/officeart/2018/2/layout/IconVerticalSolidList"/>
    <dgm:cxn modelId="{043D63F1-7861-A341-B4AD-10FC5363E654}" type="presParOf" srcId="{1B1A0D2B-CF5B-4A80-A781-BFE4835B7A6B}" destId="{C88AE85E-A6B3-4973-9CEA-3AD7A4371BE6}" srcOrd="0" destOrd="0" presId="urn:microsoft.com/office/officeart/2018/2/layout/IconVerticalSolidList"/>
    <dgm:cxn modelId="{553C790E-F04C-584C-B091-B6F39774D0BE}" type="presParOf" srcId="{1B1A0D2B-CF5B-4A80-A781-BFE4835B7A6B}" destId="{1DB050B6-C4C3-4AFA-92FA-E8B908600EFE}" srcOrd="1" destOrd="0" presId="urn:microsoft.com/office/officeart/2018/2/layout/IconVerticalSolidList"/>
    <dgm:cxn modelId="{93F90962-6212-C64D-A136-B2003A6C3EC1}" type="presParOf" srcId="{1B1A0D2B-CF5B-4A80-A781-BFE4835B7A6B}" destId="{F1AA69F6-915C-404F-A979-C16D74040AB6}" srcOrd="2" destOrd="0" presId="urn:microsoft.com/office/officeart/2018/2/layout/IconVerticalSolidList"/>
    <dgm:cxn modelId="{F3A01077-698D-9B4C-9EF6-D8058E01FF97}" type="presParOf" srcId="{1B1A0D2B-CF5B-4A80-A781-BFE4835B7A6B}" destId="{1C0E8BB1-7ABD-4824-B2E7-DE2D2B6B79E7}" srcOrd="3" destOrd="0" presId="urn:microsoft.com/office/officeart/2018/2/layout/IconVerticalSolidList"/>
    <dgm:cxn modelId="{B0FE2831-AFD8-FC43-A39E-C85AC0B83363}" type="presParOf" srcId="{F3D714A4-A997-44B5-9C1F-2E940163B89F}" destId="{AD66C100-A155-4DC1-A180-37B7D92614D3}" srcOrd="5" destOrd="0" presId="urn:microsoft.com/office/officeart/2018/2/layout/IconVerticalSolidList"/>
    <dgm:cxn modelId="{0E710200-4023-104F-BB6D-9FCBE8D99EC1}" type="presParOf" srcId="{F3D714A4-A997-44B5-9C1F-2E940163B89F}" destId="{4E6C5003-913F-4ECD-A163-A81453D3F161}" srcOrd="6" destOrd="0" presId="urn:microsoft.com/office/officeart/2018/2/layout/IconVerticalSolidList"/>
    <dgm:cxn modelId="{92E9B8A6-DA92-F94B-88D8-6A474BCD143B}" type="presParOf" srcId="{4E6C5003-913F-4ECD-A163-A81453D3F161}" destId="{D029B2A4-6B70-4A46-B71C-6184DB2BF7A2}" srcOrd="0" destOrd="0" presId="urn:microsoft.com/office/officeart/2018/2/layout/IconVerticalSolidList"/>
    <dgm:cxn modelId="{876578FA-C649-E145-9A04-3676118457BD}" type="presParOf" srcId="{4E6C5003-913F-4ECD-A163-A81453D3F161}" destId="{1C221570-E673-4F04-B014-A383EFD1EDC4}" srcOrd="1" destOrd="0" presId="urn:microsoft.com/office/officeart/2018/2/layout/IconVerticalSolidList"/>
    <dgm:cxn modelId="{446FE6FC-B8C2-3A45-A1B0-9BC0A5540434}" type="presParOf" srcId="{4E6C5003-913F-4ECD-A163-A81453D3F161}" destId="{3EF0C00E-6B80-459E-B64E-4C023C20CB91}" srcOrd="2" destOrd="0" presId="urn:microsoft.com/office/officeart/2018/2/layout/IconVerticalSolidList"/>
    <dgm:cxn modelId="{08850FC3-CBD4-ED4B-BBA1-0D5D7B02A663}" type="presParOf" srcId="{4E6C5003-913F-4ECD-A163-A81453D3F161}" destId="{E38BB290-F014-4344-8C46-661BE24671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32D139-DE63-4EE5-B6B7-891A97F60B4E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532067D-1B60-402D-9EEC-1CBD67FFD087}">
      <dgm:prSet/>
      <dgm:spPr/>
      <dgm:t>
        <a:bodyPr/>
        <a:lstStyle/>
        <a:p>
          <a:r>
            <a:rPr lang="en-US" b="1"/>
            <a:t>Step 1: Merge Hesitancy + Death Data</a:t>
          </a:r>
          <a:endParaRPr lang="en-US"/>
        </a:p>
      </dgm:t>
    </dgm:pt>
    <dgm:pt modelId="{A303561B-9689-4A55-8205-EA788847A376}" type="parTrans" cxnId="{44110BA7-4BC5-44A6-90C2-EC63C0CFA2EB}">
      <dgm:prSet/>
      <dgm:spPr/>
      <dgm:t>
        <a:bodyPr/>
        <a:lstStyle/>
        <a:p>
          <a:endParaRPr lang="en-US"/>
        </a:p>
      </dgm:t>
    </dgm:pt>
    <dgm:pt modelId="{E077CF6D-C8F0-48A3-8D9A-F14B6D213179}" type="sibTrans" cxnId="{44110BA7-4BC5-44A6-90C2-EC63C0CFA2EB}">
      <dgm:prSet/>
      <dgm:spPr/>
      <dgm:t>
        <a:bodyPr/>
        <a:lstStyle/>
        <a:p>
          <a:endParaRPr lang="en-US"/>
        </a:p>
      </dgm:t>
    </dgm:pt>
    <dgm:pt modelId="{C4B9374E-7E83-4B70-B84A-09812F7C24AF}">
      <dgm:prSet/>
      <dgm:spPr/>
      <dgm:t>
        <a:bodyPr/>
        <a:lstStyle/>
        <a:p>
          <a:r>
            <a:rPr lang="en-US"/>
            <a:t>Matched 3,140 US counties by FIPS code</a:t>
          </a:r>
        </a:p>
      </dgm:t>
    </dgm:pt>
    <dgm:pt modelId="{B52A6700-C365-4E82-BE37-DECCF3B55E17}" type="parTrans" cxnId="{B828221C-2077-404E-A8FB-7E7D08A19505}">
      <dgm:prSet/>
      <dgm:spPr/>
      <dgm:t>
        <a:bodyPr/>
        <a:lstStyle/>
        <a:p>
          <a:endParaRPr lang="en-US"/>
        </a:p>
      </dgm:t>
    </dgm:pt>
    <dgm:pt modelId="{85BAE5A4-EBB8-47B7-B5C0-C8FC5F185F49}" type="sibTrans" cxnId="{B828221C-2077-404E-A8FB-7E7D08A19505}">
      <dgm:prSet/>
      <dgm:spPr/>
      <dgm:t>
        <a:bodyPr/>
        <a:lstStyle/>
        <a:p>
          <a:endParaRPr lang="en-US"/>
        </a:p>
      </dgm:t>
    </dgm:pt>
    <dgm:pt modelId="{4AD61F3A-3EDD-4E4C-A764-B14B8BE03845}">
      <dgm:prSet/>
      <dgm:spPr/>
      <dgm:t>
        <a:bodyPr/>
        <a:lstStyle/>
        <a:p>
          <a:r>
            <a:rPr lang="en-US"/>
            <a:t>Converted raw death counts → death rates per 100,000 population</a:t>
          </a:r>
        </a:p>
      </dgm:t>
    </dgm:pt>
    <dgm:pt modelId="{4CA82ED2-2F16-4F07-8C0C-5E38AD0D1629}" type="parTrans" cxnId="{8F61DE5F-8B2B-4AB4-8C3C-314295221C0C}">
      <dgm:prSet/>
      <dgm:spPr/>
      <dgm:t>
        <a:bodyPr/>
        <a:lstStyle/>
        <a:p>
          <a:endParaRPr lang="en-US"/>
        </a:p>
      </dgm:t>
    </dgm:pt>
    <dgm:pt modelId="{31F3D001-1EB5-445C-AD6C-5074D31BACCA}" type="sibTrans" cxnId="{8F61DE5F-8B2B-4AB4-8C3C-314295221C0C}">
      <dgm:prSet/>
      <dgm:spPr/>
      <dgm:t>
        <a:bodyPr/>
        <a:lstStyle/>
        <a:p>
          <a:endParaRPr lang="en-US"/>
        </a:p>
      </dgm:t>
    </dgm:pt>
    <dgm:pt modelId="{F971A767-DDC7-470E-8298-0546C0F77737}">
      <dgm:prSet/>
      <dgm:spPr/>
      <dgm:t>
        <a:bodyPr/>
        <a:lstStyle/>
        <a:p>
          <a:r>
            <a:rPr lang="en-US"/>
            <a:t>Created both weekly and cumulative versions</a:t>
          </a:r>
        </a:p>
      </dgm:t>
    </dgm:pt>
    <dgm:pt modelId="{AF4C4EC2-87A5-4C94-BA41-449789AD0B63}" type="parTrans" cxnId="{73430224-E2B3-4E2A-A94E-62B85E6D2948}">
      <dgm:prSet/>
      <dgm:spPr/>
      <dgm:t>
        <a:bodyPr/>
        <a:lstStyle/>
        <a:p>
          <a:endParaRPr lang="en-US"/>
        </a:p>
      </dgm:t>
    </dgm:pt>
    <dgm:pt modelId="{8722B5DB-BD6A-4B68-8157-C528A13A8451}" type="sibTrans" cxnId="{73430224-E2B3-4E2A-A94E-62B85E6D2948}">
      <dgm:prSet/>
      <dgm:spPr/>
      <dgm:t>
        <a:bodyPr/>
        <a:lstStyle/>
        <a:p>
          <a:endParaRPr lang="en-US"/>
        </a:p>
      </dgm:t>
    </dgm:pt>
    <dgm:pt modelId="{D5F2CDB9-CE90-4903-B550-858820D0A7D3}">
      <dgm:prSet/>
      <dgm:spPr/>
      <dgm:t>
        <a:bodyPr/>
        <a:lstStyle/>
        <a:p>
          <a:r>
            <a:rPr lang="en-US" b="1"/>
            <a:t>Step 2: Add SDOH Measures</a:t>
          </a:r>
          <a:endParaRPr lang="en-US"/>
        </a:p>
      </dgm:t>
    </dgm:pt>
    <dgm:pt modelId="{0E062C06-99D2-466F-811C-714A74459735}" type="parTrans" cxnId="{FB861F95-7E95-4432-85F7-D501901726F5}">
      <dgm:prSet/>
      <dgm:spPr/>
      <dgm:t>
        <a:bodyPr/>
        <a:lstStyle/>
        <a:p>
          <a:endParaRPr lang="en-US"/>
        </a:p>
      </dgm:t>
    </dgm:pt>
    <dgm:pt modelId="{F549C7E4-3FD0-4BA7-A62F-ADF8C8C2E983}" type="sibTrans" cxnId="{FB861F95-7E95-4432-85F7-D501901726F5}">
      <dgm:prSet/>
      <dgm:spPr/>
      <dgm:t>
        <a:bodyPr/>
        <a:lstStyle/>
        <a:p>
          <a:endParaRPr lang="en-US"/>
        </a:p>
      </dgm:t>
    </dgm:pt>
    <dgm:pt modelId="{992228A2-B694-419E-A1C5-91E395B489EE}">
      <dgm:prSet/>
      <dgm:spPr/>
      <dgm:t>
        <a:bodyPr/>
        <a:lstStyle/>
        <a:p>
          <a:r>
            <a:rPr lang="en-US"/>
            <a:t>Added 9 social determinants of health indicators</a:t>
          </a:r>
        </a:p>
      </dgm:t>
    </dgm:pt>
    <dgm:pt modelId="{46B4EB14-17EB-40E5-97D7-373AC22DFFB3}" type="parTrans" cxnId="{A6D40884-A421-43E1-A93C-77BDADD64225}">
      <dgm:prSet/>
      <dgm:spPr/>
      <dgm:t>
        <a:bodyPr/>
        <a:lstStyle/>
        <a:p>
          <a:endParaRPr lang="en-US"/>
        </a:p>
      </dgm:t>
    </dgm:pt>
    <dgm:pt modelId="{5949DD21-FDB6-4CC3-86C1-C854C7DB5302}" type="sibTrans" cxnId="{A6D40884-A421-43E1-A93C-77BDADD64225}">
      <dgm:prSet/>
      <dgm:spPr/>
      <dgm:t>
        <a:bodyPr/>
        <a:lstStyle/>
        <a:p>
          <a:endParaRPr lang="en-US"/>
        </a:p>
      </dgm:t>
    </dgm:pt>
    <dgm:pt modelId="{53B5AE03-9C17-4CA9-8F66-FAE72F92A041}">
      <dgm:prSet/>
      <dgm:spPr/>
      <dgm:t>
        <a:bodyPr/>
        <a:lstStyle/>
        <a:p>
          <a:r>
            <a:rPr lang="en-US"/>
            <a:t>Final dataset: 3,140 counties × 178 columns</a:t>
          </a:r>
        </a:p>
      </dgm:t>
    </dgm:pt>
    <dgm:pt modelId="{CD6D66A0-1A40-44F4-91CB-E15545FD6949}" type="parTrans" cxnId="{43C14175-D9C8-4F46-8A59-8C25711B8F96}">
      <dgm:prSet/>
      <dgm:spPr/>
      <dgm:t>
        <a:bodyPr/>
        <a:lstStyle/>
        <a:p>
          <a:endParaRPr lang="en-US"/>
        </a:p>
      </dgm:t>
    </dgm:pt>
    <dgm:pt modelId="{4BE4712C-0811-471F-AA64-A9FD4AA93543}" type="sibTrans" cxnId="{43C14175-D9C8-4F46-8A59-8C25711B8F96}">
      <dgm:prSet/>
      <dgm:spPr/>
      <dgm:t>
        <a:bodyPr/>
        <a:lstStyle/>
        <a:p>
          <a:endParaRPr lang="en-US"/>
        </a:p>
      </dgm:t>
    </dgm:pt>
    <dgm:pt modelId="{0C5A0AAA-0425-4CBF-AC2A-E608197F0A94}">
      <dgm:prSet/>
      <dgm:spPr/>
      <dgm:t>
        <a:bodyPr/>
        <a:lstStyle/>
        <a:p>
          <a:r>
            <a:rPr lang="en-US" u="sng"/>
            <a:t>SDOH Measures Included</a:t>
          </a:r>
          <a:r>
            <a:rPr lang="en-US"/>
            <a:t>：</a:t>
          </a:r>
        </a:p>
      </dgm:t>
    </dgm:pt>
    <dgm:pt modelId="{E0E8588B-E1CF-451B-BEC4-6A261AE7524B}" type="parTrans" cxnId="{147CEEDC-5D46-45FE-991A-C64455D245A4}">
      <dgm:prSet/>
      <dgm:spPr/>
      <dgm:t>
        <a:bodyPr/>
        <a:lstStyle/>
        <a:p>
          <a:endParaRPr lang="en-US"/>
        </a:p>
      </dgm:t>
    </dgm:pt>
    <dgm:pt modelId="{DD5F837D-B8AA-42EF-ABEB-21AB851D08D2}" type="sibTrans" cxnId="{147CEEDC-5D46-45FE-991A-C64455D245A4}">
      <dgm:prSet/>
      <dgm:spPr/>
      <dgm:t>
        <a:bodyPr/>
        <a:lstStyle/>
        <a:p>
          <a:endParaRPr lang="en-US"/>
        </a:p>
      </dgm:t>
    </dgm:pt>
    <dgm:pt modelId="{9A879ECD-7635-4259-8AAA-A01AFD3E54E1}">
      <dgm:prSet/>
      <dgm:spPr/>
      <dgm:t>
        <a:bodyPr/>
        <a:lstStyle/>
        <a:p>
          <a:r>
            <a:rPr lang="en-US"/>
            <a:t>Poverty rate, No broadband internet access, No high school diploma, </a:t>
          </a:r>
        </a:p>
      </dgm:t>
    </dgm:pt>
    <dgm:pt modelId="{48AAA333-7E03-48E3-8079-86CA1FD78F02}" type="parTrans" cxnId="{651A7080-37D7-4585-9ECA-015A5E22090E}">
      <dgm:prSet/>
      <dgm:spPr/>
      <dgm:t>
        <a:bodyPr/>
        <a:lstStyle/>
        <a:p>
          <a:endParaRPr lang="en-US"/>
        </a:p>
      </dgm:t>
    </dgm:pt>
    <dgm:pt modelId="{DCF3F7EA-D42B-472D-A10E-3530FED27F22}" type="sibTrans" cxnId="{651A7080-37D7-4585-9ECA-015A5E22090E}">
      <dgm:prSet/>
      <dgm:spPr/>
      <dgm:t>
        <a:bodyPr/>
        <a:lstStyle/>
        <a:p>
          <a:endParaRPr lang="en-US"/>
        </a:p>
      </dgm:t>
    </dgm:pt>
    <dgm:pt modelId="{747806F6-BE58-4EAA-A6CE-5B110480EF47}">
      <dgm:prSet/>
      <dgm:spPr/>
      <dgm:t>
        <a:bodyPr/>
        <a:lstStyle/>
        <a:p>
          <a:r>
            <a:rPr lang="en-US"/>
            <a:t>Unemployment rate, Single-parent households, Housing cost burden, </a:t>
          </a:r>
        </a:p>
      </dgm:t>
    </dgm:pt>
    <dgm:pt modelId="{9BABE353-E59F-4F95-81BA-E420FF14309A}" type="parTrans" cxnId="{BBBE315D-EB2F-4FFA-8C51-17CB7396F844}">
      <dgm:prSet/>
      <dgm:spPr/>
      <dgm:t>
        <a:bodyPr/>
        <a:lstStyle/>
        <a:p>
          <a:endParaRPr lang="en-US"/>
        </a:p>
      </dgm:t>
    </dgm:pt>
    <dgm:pt modelId="{7DFE04B1-C8D5-46C5-8B62-359663206938}" type="sibTrans" cxnId="{BBBE315D-EB2F-4FFA-8C51-17CB7396F844}">
      <dgm:prSet/>
      <dgm:spPr/>
      <dgm:t>
        <a:bodyPr/>
        <a:lstStyle/>
        <a:p>
          <a:endParaRPr lang="en-US"/>
        </a:p>
      </dgm:t>
    </dgm:pt>
    <dgm:pt modelId="{96AE93B7-9EFA-419B-979F-CAC3EFA58469}">
      <dgm:prSet/>
      <dgm:spPr/>
      <dgm:t>
        <a:bodyPr/>
        <a:lstStyle/>
        <a:p>
          <a:r>
            <a:rPr lang="en-US"/>
            <a:t>Crowding, Aged 65+, Racial/ethnic minority status</a:t>
          </a:r>
        </a:p>
      </dgm:t>
    </dgm:pt>
    <dgm:pt modelId="{DC256D5C-D47F-46FE-8D93-851D06B87965}" type="parTrans" cxnId="{6D1584CD-44D2-44B4-9F12-5B54D6AB62B8}">
      <dgm:prSet/>
      <dgm:spPr/>
      <dgm:t>
        <a:bodyPr/>
        <a:lstStyle/>
        <a:p>
          <a:endParaRPr lang="en-US"/>
        </a:p>
      </dgm:t>
    </dgm:pt>
    <dgm:pt modelId="{DB517F62-0511-4A90-8A3A-C2A098A377F0}" type="sibTrans" cxnId="{6D1584CD-44D2-44B4-9F12-5B54D6AB62B8}">
      <dgm:prSet/>
      <dgm:spPr/>
      <dgm:t>
        <a:bodyPr/>
        <a:lstStyle/>
        <a:p>
          <a:endParaRPr lang="en-US"/>
        </a:p>
      </dgm:t>
    </dgm:pt>
    <dgm:pt modelId="{016F7110-5DB7-D44C-A4D2-5380E9ADB7EC}" type="pres">
      <dgm:prSet presAssocID="{9432D139-DE63-4EE5-B6B7-891A97F60B4E}" presName="linear" presStyleCnt="0">
        <dgm:presLayoutVars>
          <dgm:animLvl val="lvl"/>
          <dgm:resizeHandles val="exact"/>
        </dgm:presLayoutVars>
      </dgm:prSet>
      <dgm:spPr/>
    </dgm:pt>
    <dgm:pt modelId="{E72F3AD8-8948-1941-9EC1-F22AF293D622}" type="pres">
      <dgm:prSet presAssocID="{0532067D-1B60-402D-9EEC-1CBD67FFD08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0D62E8-9A0F-F34D-90B8-BEC53385648A}" type="pres">
      <dgm:prSet presAssocID="{0532067D-1B60-402D-9EEC-1CBD67FFD087}" presName="childText" presStyleLbl="revTx" presStyleIdx="0" presStyleCnt="3">
        <dgm:presLayoutVars>
          <dgm:bulletEnabled val="1"/>
        </dgm:presLayoutVars>
      </dgm:prSet>
      <dgm:spPr/>
    </dgm:pt>
    <dgm:pt modelId="{1698F67D-EF60-D442-9955-E02365401617}" type="pres">
      <dgm:prSet presAssocID="{D5F2CDB9-CE90-4903-B550-858820D0A7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12B60A-B59C-2F44-8B6C-57CE0E9B6A11}" type="pres">
      <dgm:prSet presAssocID="{D5F2CDB9-CE90-4903-B550-858820D0A7D3}" presName="childText" presStyleLbl="revTx" presStyleIdx="1" presStyleCnt="3">
        <dgm:presLayoutVars>
          <dgm:bulletEnabled val="1"/>
        </dgm:presLayoutVars>
      </dgm:prSet>
      <dgm:spPr/>
    </dgm:pt>
    <dgm:pt modelId="{C49F1AC8-774D-E943-A49F-3C98B09474A3}" type="pres">
      <dgm:prSet presAssocID="{0C5A0AAA-0425-4CBF-AC2A-E608197F0A9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65CE910-F7FA-9B4B-8C21-3122CFA72214}" type="pres">
      <dgm:prSet presAssocID="{0C5A0AAA-0425-4CBF-AC2A-E608197F0A9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AB47807-D73A-9447-945F-74DB3480651B}" type="presOf" srcId="{53B5AE03-9C17-4CA9-8F66-FAE72F92A041}" destId="{E212B60A-B59C-2F44-8B6C-57CE0E9B6A11}" srcOrd="0" destOrd="1" presId="urn:microsoft.com/office/officeart/2005/8/layout/vList2"/>
    <dgm:cxn modelId="{11913912-16E9-2C4F-9F2C-02782F112666}" type="presOf" srcId="{9432D139-DE63-4EE5-B6B7-891A97F60B4E}" destId="{016F7110-5DB7-D44C-A4D2-5380E9ADB7EC}" srcOrd="0" destOrd="0" presId="urn:microsoft.com/office/officeart/2005/8/layout/vList2"/>
    <dgm:cxn modelId="{B828221C-2077-404E-A8FB-7E7D08A19505}" srcId="{0532067D-1B60-402D-9EEC-1CBD67FFD087}" destId="{C4B9374E-7E83-4B70-B84A-09812F7C24AF}" srcOrd="0" destOrd="0" parTransId="{B52A6700-C365-4E82-BE37-DECCF3B55E17}" sibTransId="{85BAE5A4-EBB8-47B7-B5C0-C8FC5F185F49}"/>
    <dgm:cxn modelId="{2C251623-ADF4-794A-8FA8-3664338C68DF}" type="presOf" srcId="{D5F2CDB9-CE90-4903-B550-858820D0A7D3}" destId="{1698F67D-EF60-D442-9955-E02365401617}" srcOrd="0" destOrd="0" presId="urn:microsoft.com/office/officeart/2005/8/layout/vList2"/>
    <dgm:cxn modelId="{73430224-E2B3-4E2A-A94E-62B85E6D2948}" srcId="{0532067D-1B60-402D-9EEC-1CBD67FFD087}" destId="{F971A767-DDC7-470E-8298-0546C0F77737}" srcOrd="2" destOrd="0" parTransId="{AF4C4EC2-87A5-4C94-BA41-449789AD0B63}" sibTransId="{8722B5DB-BD6A-4B68-8157-C528A13A8451}"/>
    <dgm:cxn modelId="{BBBE315D-EB2F-4FFA-8C51-17CB7396F844}" srcId="{0C5A0AAA-0425-4CBF-AC2A-E608197F0A94}" destId="{747806F6-BE58-4EAA-A6CE-5B110480EF47}" srcOrd="1" destOrd="0" parTransId="{9BABE353-E59F-4F95-81BA-E420FF14309A}" sibTransId="{7DFE04B1-C8D5-46C5-8B62-359663206938}"/>
    <dgm:cxn modelId="{8F61DE5F-8B2B-4AB4-8C3C-314295221C0C}" srcId="{0532067D-1B60-402D-9EEC-1CBD67FFD087}" destId="{4AD61F3A-3EDD-4E4C-A764-B14B8BE03845}" srcOrd="1" destOrd="0" parTransId="{4CA82ED2-2F16-4F07-8C0C-5E38AD0D1629}" sibTransId="{31F3D001-1EB5-445C-AD6C-5074D31BACCA}"/>
    <dgm:cxn modelId="{44052E6F-E75C-714E-A7AD-64665573F0F7}" type="presOf" srcId="{9A879ECD-7635-4259-8AAA-A01AFD3E54E1}" destId="{C65CE910-F7FA-9B4B-8C21-3122CFA72214}" srcOrd="0" destOrd="0" presId="urn:microsoft.com/office/officeart/2005/8/layout/vList2"/>
    <dgm:cxn modelId="{43C14175-D9C8-4F46-8A59-8C25711B8F96}" srcId="{D5F2CDB9-CE90-4903-B550-858820D0A7D3}" destId="{53B5AE03-9C17-4CA9-8F66-FAE72F92A041}" srcOrd="1" destOrd="0" parTransId="{CD6D66A0-1A40-44F4-91CB-E15545FD6949}" sibTransId="{4BE4712C-0811-471F-AA64-A9FD4AA93543}"/>
    <dgm:cxn modelId="{651A7080-37D7-4585-9ECA-015A5E22090E}" srcId="{0C5A0AAA-0425-4CBF-AC2A-E608197F0A94}" destId="{9A879ECD-7635-4259-8AAA-A01AFD3E54E1}" srcOrd="0" destOrd="0" parTransId="{48AAA333-7E03-48E3-8079-86CA1FD78F02}" sibTransId="{DCF3F7EA-D42B-472D-A10E-3530FED27F22}"/>
    <dgm:cxn modelId="{A6D40884-A421-43E1-A93C-77BDADD64225}" srcId="{D5F2CDB9-CE90-4903-B550-858820D0A7D3}" destId="{992228A2-B694-419E-A1C5-91E395B489EE}" srcOrd="0" destOrd="0" parTransId="{46B4EB14-17EB-40E5-97D7-373AC22DFFB3}" sibTransId="{5949DD21-FDB6-4CC3-86C1-C854C7DB5302}"/>
    <dgm:cxn modelId="{FB861F95-7E95-4432-85F7-D501901726F5}" srcId="{9432D139-DE63-4EE5-B6B7-891A97F60B4E}" destId="{D5F2CDB9-CE90-4903-B550-858820D0A7D3}" srcOrd="1" destOrd="0" parTransId="{0E062C06-99D2-466F-811C-714A74459735}" sibTransId="{F549C7E4-3FD0-4BA7-A62F-ADF8C8C2E983}"/>
    <dgm:cxn modelId="{D9EF8497-4AF3-414C-8CC2-893407DE04B6}" type="presOf" srcId="{4AD61F3A-3EDD-4E4C-A764-B14B8BE03845}" destId="{110D62E8-9A0F-F34D-90B8-BEC53385648A}" srcOrd="0" destOrd="1" presId="urn:microsoft.com/office/officeart/2005/8/layout/vList2"/>
    <dgm:cxn modelId="{B5923F99-1CB5-2B41-A1C1-768B27969047}" type="presOf" srcId="{0532067D-1B60-402D-9EEC-1CBD67FFD087}" destId="{E72F3AD8-8948-1941-9EC1-F22AF293D622}" srcOrd="0" destOrd="0" presId="urn:microsoft.com/office/officeart/2005/8/layout/vList2"/>
    <dgm:cxn modelId="{2D3DF4A5-B5DC-8246-88E7-400A72533BDF}" type="presOf" srcId="{96AE93B7-9EFA-419B-979F-CAC3EFA58469}" destId="{C65CE910-F7FA-9B4B-8C21-3122CFA72214}" srcOrd="0" destOrd="2" presId="urn:microsoft.com/office/officeart/2005/8/layout/vList2"/>
    <dgm:cxn modelId="{44110BA7-4BC5-44A6-90C2-EC63C0CFA2EB}" srcId="{9432D139-DE63-4EE5-B6B7-891A97F60B4E}" destId="{0532067D-1B60-402D-9EEC-1CBD67FFD087}" srcOrd="0" destOrd="0" parTransId="{A303561B-9689-4A55-8205-EA788847A376}" sibTransId="{E077CF6D-C8F0-48A3-8D9A-F14B6D213179}"/>
    <dgm:cxn modelId="{BC511CAB-A9A3-184B-8225-1BBCF0840613}" type="presOf" srcId="{F971A767-DDC7-470E-8298-0546C0F77737}" destId="{110D62E8-9A0F-F34D-90B8-BEC53385648A}" srcOrd="0" destOrd="2" presId="urn:microsoft.com/office/officeart/2005/8/layout/vList2"/>
    <dgm:cxn modelId="{C7A163B9-1096-5C42-A8F7-62CD68C6AC0E}" type="presOf" srcId="{C4B9374E-7E83-4B70-B84A-09812F7C24AF}" destId="{110D62E8-9A0F-F34D-90B8-BEC53385648A}" srcOrd="0" destOrd="0" presId="urn:microsoft.com/office/officeart/2005/8/layout/vList2"/>
    <dgm:cxn modelId="{6D1584CD-44D2-44B4-9F12-5B54D6AB62B8}" srcId="{0C5A0AAA-0425-4CBF-AC2A-E608197F0A94}" destId="{96AE93B7-9EFA-419B-979F-CAC3EFA58469}" srcOrd="2" destOrd="0" parTransId="{DC256D5C-D47F-46FE-8D93-851D06B87965}" sibTransId="{DB517F62-0511-4A90-8A3A-C2A098A377F0}"/>
    <dgm:cxn modelId="{147CEEDC-5D46-45FE-991A-C64455D245A4}" srcId="{9432D139-DE63-4EE5-B6B7-891A97F60B4E}" destId="{0C5A0AAA-0425-4CBF-AC2A-E608197F0A94}" srcOrd="2" destOrd="0" parTransId="{E0E8588B-E1CF-451B-BEC4-6A261AE7524B}" sibTransId="{DD5F837D-B8AA-42EF-ABEB-21AB851D08D2}"/>
    <dgm:cxn modelId="{C3F46BE6-A97C-3346-92F4-308A0AAAC7E6}" type="presOf" srcId="{747806F6-BE58-4EAA-A6CE-5B110480EF47}" destId="{C65CE910-F7FA-9B4B-8C21-3122CFA72214}" srcOrd="0" destOrd="1" presId="urn:microsoft.com/office/officeart/2005/8/layout/vList2"/>
    <dgm:cxn modelId="{93521EE7-3A76-AE47-8B28-6A02BF1057D9}" type="presOf" srcId="{992228A2-B694-419E-A1C5-91E395B489EE}" destId="{E212B60A-B59C-2F44-8B6C-57CE0E9B6A11}" srcOrd="0" destOrd="0" presId="urn:microsoft.com/office/officeart/2005/8/layout/vList2"/>
    <dgm:cxn modelId="{E3A883ED-DCC2-C44F-A288-5ACFA9CC14C7}" type="presOf" srcId="{0C5A0AAA-0425-4CBF-AC2A-E608197F0A94}" destId="{C49F1AC8-774D-E943-A49F-3C98B09474A3}" srcOrd="0" destOrd="0" presId="urn:microsoft.com/office/officeart/2005/8/layout/vList2"/>
    <dgm:cxn modelId="{37B9A6FD-9D35-E44B-8897-7F29AC9D6EB9}" type="presParOf" srcId="{016F7110-5DB7-D44C-A4D2-5380E9ADB7EC}" destId="{E72F3AD8-8948-1941-9EC1-F22AF293D622}" srcOrd="0" destOrd="0" presId="urn:microsoft.com/office/officeart/2005/8/layout/vList2"/>
    <dgm:cxn modelId="{491A1090-856D-7147-9BA7-3B24D0073BE1}" type="presParOf" srcId="{016F7110-5DB7-D44C-A4D2-5380E9ADB7EC}" destId="{110D62E8-9A0F-F34D-90B8-BEC53385648A}" srcOrd="1" destOrd="0" presId="urn:microsoft.com/office/officeart/2005/8/layout/vList2"/>
    <dgm:cxn modelId="{9B7557EC-3353-6C44-954A-3A7615445F56}" type="presParOf" srcId="{016F7110-5DB7-D44C-A4D2-5380E9ADB7EC}" destId="{1698F67D-EF60-D442-9955-E02365401617}" srcOrd="2" destOrd="0" presId="urn:microsoft.com/office/officeart/2005/8/layout/vList2"/>
    <dgm:cxn modelId="{FAA6AB26-AE7D-BE41-A076-6B29D152BADD}" type="presParOf" srcId="{016F7110-5DB7-D44C-A4D2-5380E9ADB7EC}" destId="{E212B60A-B59C-2F44-8B6C-57CE0E9B6A11}" srcOrd="3" destOrd="0" presId="urn:microsoft.com/office/officeart/2005/8/layout/vList2"/>
    <dgm:cxn modelId="{71F29A38-82CF-B547-8AE9-650686317D80}" type="presParOf" srcId="{016F7110-5DB7-D44C-A4D2-5380E9ADB7EC}" destId="{C49F1AC8-774D-E943-A49F-3C98B09474A3}" srcOrd="4" destOrd="0" presId="urn:microsoft.com/office/officeart/2005/8/layout/vList2"/>
    <dgm:cxn modelId="{18AF3926-43F8-714C-BEA7-E4D197B67A35}" type="presParOf" srcId="{016F7110-5DB7-D44C-A4D2-5380E9ADB7EC}" destId="{C65CE910-F7FA-9B4B-8C21-3122CFA7221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B8D1E1-5FD0-4382-B3D0-7B8BAFBF359A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B2137-E91F-4BB4-8F7D-F710BF321093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FC50E-5BA4-4F5D-BCBF-FC78418081E2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aggregate and clean data to answer further  meaningful questions  about COVD-19 vaccine hesitancy, SDOH,  and outcomes</a:t>
          </a:r>
        </a:p>
      </dsp:txBody>
      <dsp:txXfrm>
        <a:off x="1058686" y="1808"/>
        <a:ext cx="9456913" cy="916611"/>
      </dsp:txXfrm>
    </dsp:sp>
    <dsp:sp modelId="{53A8BC1B-F337-4C9B-B887-032A1189A7B9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CCA76-E98C-40DE-A317-97CE57C1BADD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D5459-C74C-42ED-9B80-EA2C59DC7773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Answer whether individual vaccine attitudes, at a state or county level, correlate to COVID-19 death rates within a reasonable time frame (2020-2022). </a:t>
          </a:r>
        </a:p>
      </dsp:txBody>
      <dsp:txXfrm>
        <a:off x="1058686" y="1147573"/>
        <a:ext cx="9456913" cy="916611"/>
      </dsp:txXfrm>
    </dsp:sp>
    <dsp:sp modelId="{C88AE85E-A6B3-4973-9CEA-3AD7A4371BE6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B050B6-C4C3-4AFA-92FA-E8B908600EFE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E8BB1-7ABD-4824-B2E7-DE2D2B6B79E7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learn how individual health decisions and/or social determinants of health can affect community health on a large scale, and how this applies to disinformation, health information policy, and incentives to make well-informed decisions. </a:t>
          </a:r>
        </a:p>
      </dsp:txBody>
      <dsp:txXfrm>
        <a:off x="1058686" y="2293338"/>
        <a:ext cx="9456913" cy="916611"/>
      </dsp:txXfrm>
    </dsp:sp>
    <dsp:sp modelId="{D029B2A4-6B70-4A46-B71C-6184DB2BF7A2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221570-E673-4F04-B014-A383EFD1EDC4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BB290-F014-4344-8C46-661BE24671C8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Brief analysis to observe any correlations or statistical significance between vaccine hesitancy, SDOH, and county death rates. </a:t>
          </a:r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2F3AD8-8948-1941-9EC1-F22AF293D622}">
      <dsp:nvSpPr>
        <dsp:cNvPr id="0" name=""/>
        <dsp:cNvSpPr/>
      </dsp:nvSpPr>
      <dsp:spPr>
        <a:xfrm>
          <a:off x="0" y="63654"/>
          <a:ext cx="10515600" cy="5827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Step 1: Merge Hesitancy + Death Data</a:t>
          </a:r>
          <a:endParaRPr lang="en-US" sz="2300" kern="1200"/>
        </a:p>
      </dsp:txBody>
      <dsp:txXfrm>
        <a:off x="28448" y="92102"/>
        <a:ext cx="10458704" cy="525873"/>
      </dsp:txXfrm>
    </dsp:sp>
    <dsp:sp modelId="{110D62E8-9A0F-F34D-90B8-BEC53385648A}">
      <dsp:nvSpPr>
        <dsp:cNvPr id="0" name=""/>
        <dsp:cNvSpPr/>
      </dsp:nvSpPr>
      <dsp:spPr>
        <a:xfrm>
          <a:off x="0" y="646424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Matched 3,140 US counties by FIPS code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Converted raw death counts → death rates per 100,000 population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Created both weekly and cumulative versions</a:t>
          </a:r>
        </a:p>
      </dsp:txBody>
      <dsp:txXfrm>
        <a:off x="0" y="646424"/>
        <a:ext cx="10515600" cy="928395"/>
      </dsp:txXfrm>
    </dsp:sp>
    <dsp:sp modelId="{1698F67D-EF60-D442-9955-E02365401617}">
      <dsp:nvSpPr>
        <dsp:cNvPr id="0" name=""/>
        <dsp:cNvSpPr/>
      </dsp:nvSpPr>
      <dsp:spPr>
        <a:xfrm>
          <a:off x="0" y="1574819"/>
          <a:ext cx="10515600" cy="5827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Step 2: Add SDOH Measures</a:t>
          </a:r>
          <a:endParaRPr lang="en-US" sz="2300" kern="1200"/>
        </a:p>
      </dsp:txBody>
      <dsp:txXfrm>
        <a:off x="28448" y="1603267"/>
        <a:ext cx="10458704" cy="525873"/>
      </dsp:txXfrm>
    </dsp:sp>
    <dsp:sp modelId="{E212B60A-B59C-2F44-8B6C-57CE0E9B6A11}">
      <dsp:nvSpPr>
        <dsp:cNvPr id="0" name=""/>
        <dsp:cNvSpPr/>
      </dsp:nvSpPr>
      <dsp:spPr>
        <a:xfrm>
          <a:off x="0" y="2157588"/>
          <a:ext cx="105156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Added 9 social determinants of health indicators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Final dataset: 3,140 counties × 178 columns</a:t>
          </a:r>
        </a:p>
      </dsp:txBody>
      <dsp:txXfrm>
        <a:off x="0" y="2157588"/>
        <a:ext cx="10515600" cy="618930"/>
      </dsp:txXfrm>
    </dsp:sp>
    <dsp:sp modelId="{C49F1AC8-774D-E943-A49F-3C98B09474A3}">
      <dsp:nvSpPr>
        <dsp:cNvPr id="0" name=""/>
        <dsp:cNvSpPr/>
      </dsp:nvSpPr>
      <dsp:spPr>
        <a:xfrm>
          <a:off x="0" y="2776518"/>
          <a:ext cx="10515600" cy="5827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u="sng" kern="1200"/>
            <a:t>SDOH Measures Included</a:t>
          </a:r>
          <a:r>
            <a:rPr lang="en-US" sz="2300" kern="1200"/>
            <a:t>：</a:t>
          </a:r>
        </a:p>
      </dsp:txBody>
      <dsp:txXfrm>
        <a:off x="28448" y="2804966"/>
        <a:ext cx="10458704" cy="525873"/>
      </dsp:txXfrm>
    </dsp:sp>
    <dsp:sp modelId="{C65CE910-F7FA-9B4B-8C21-3122CFA72214}">
      <dsp:nvSpPr>
        <dsp:cNvPr id="0" name=""/>
        <dsp:cNvSpPr/>
      </dsp:nvSpPr>
      <dsp:spPr>
        <a:xfrm>
          <a:off x="0" y="3359288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Poverty rate, No broadband internet access, No high school diploma,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Unemployment rate, Single-parent households, Housing cost burden,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Crowding, Aged 65+, Racial/ethnic minority status</a:t>
          </a:r>
        </a:p>
      </dsp:txBody>
      <dsp:txXfrm>
        <a:off x="0" y="3359288"/>
        <a:ext cx="10515600" cy="928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7EAE-AB54-4B23-A1D9-3FB2BF799C7F}" type="datetimeFigureOut"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45238-3DBD-4DDC-9F06-2E45292AFC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0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 altLang="zh-CN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282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Considerations for completeness: </a:t>
            </a:r>
            <a:endParaRPr lang="en-US"/>
          </a:p>
          <a:p>
            <a:r>
              <a:rPr lang="en-US" dirty="0">
                <a:ea typeface="Calibri"/>
                <a:cs typeface="Calibri"/>
              </a:rPr>
              <a:t>-identify missing counties, do those need to be excluded from the analysis?</a:t>
            </a:r>
          </a:p>
          <a:p>
            <a:r>
              <a:rPr lang="en-US">
                <a:ea typeface="Calibri"/>
                <a:cs typeface="Calibri"/>
              </a:rPr>
              <a:t>-missing FIPS, we used FIPS to combine the datasets 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98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-84 incorrect iso2, iso3, and code3 values correspond to rows for territories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 -iso's are country code identifiers 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7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-there are 3 instances of negative death counts, for rows 2056 and 2531 (located in North and South Carolina respectively)</a:t>
            </a:r>
          </a:p>
          <a:p>
            <a:r>
              <a:rPr lang="en-US">
                <a:ea typeface="Calibri"/>
                <a:cs typeface="Calibri"/>
              </a:rPr>
              <a:t> -changes are likely due to data modifications, for example is COVID-19 death definitions changed, data entry error,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95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Concordance: expected values, </a:t>
            </a:r>
            <a:r>
              <a:rPr lang="en-US"/>
              <a:t>does the data agree with other sources or internal logic?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59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8501-2F10-0D11-2931-DB31BF14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1AF48-1032-02D6-D3E5-927A7CB1B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55C01-960C-8A65-9E1D-5A495F650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-The first graphs show anomalies in death counts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 -once a death count is recorded it is not expected to disappear. However, there was a long list of data modifications recorded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 - the filed corrections were large enough to lower the cumulative total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9E179-0EFF-6F6A-992F-0DBCFD38A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46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-</a:t>
            </a:r>
            <a:r>
              <a:rPr lang="en-US"/>
              <a:t>100,000 deaths in a single county would be implausible</a:t>
            </a:r>
          </a:p>
          <a:p>
            <a:r>
              <a:rPr lang="en-US" b="1"/>
              <a:t>-"Out of state"</a:t>
            </a:r>
            <a:r>
              <a:rPr lang="en-US"/>
              <a:t> = deaths that occurred outside specific state but were reported by that state, e.g. Alabama</a:t>
            </a:r>
          </a:p>
          <a:p>
            <a:r>
              <a:rPr lang="en-US" b="1"/>
              <a:t>-"Unassigned"</a:t>
            </a:r>
            <a:r>
              <a:rPr lang="en-US"/>
              <a:t> = deaths not yet assigned to a specific county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1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-small states/territories might have limited public health infrastructure </a:t>
            </a:r>
          </a:p>
          <a:p>
            <a:r>
              <a:rPr lang="en-US">
                <a:ea typeface="Calibri"/>
                <a:cs typeface="Calibri"/>
              </a:rPr>
              <a:t>-could have transitioned to federal reporting system</a:t>
            </a:r>
          </a:p>
          <a:p>
            <a:r>
              <a:rPr lang="en-US">
                <a:ea typeface="Calibri"/>
                <a:cs typeface="Calibri"/>
              </a:rPr>
              <a:t>-we mostly cared for currency of 2021 since that is the year the vaccine was available (Vaccine was available at the end of 2020)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59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proceeded with a simple analysis to make sure that our dataset is actually working and producing meaningful relationships.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First, we looked at how social determinants relate to vaccine hesitancy.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We found that poverty, lack of broadband access, and lower education had the strongest positive associations with hesitancy.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Some variables showed weaker relationships, and others were not significant.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Overall, this suggests that socioeconomic disadvantage is associated with higher vaccine hesitancy.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45238-3DBD-4DDC-9F06-2E45292AFC36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04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then ran a series of regression models, each including hesitancy and one SDOH variable.</a:t>
            </a:r>
          </a:p>
          <a:p>
            <a:r>
              <a:rPr lang="en-US" dirty="0"/>
              <a:t>Hesitancy remained significant across all models.</a:t>
            </a:r>
          </a:p>
          <a:p>
            <a:r>
              <a:rPr lang="en-US" dirty="0"/>
              <a:t>Here, the beta values indicate the direction of association, while R-squared shows how much variation each model explains.</a:t>
            </a:r>
          </a:p>
          <a:p>
            <a:r>
              <a:rPr lang="en-US" dirty="0"/>
              <a:t>The strongest models included broadband access, poverty, education, and age, explaining about 19 to 26 percent of variation in mortality.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BB8F-2DF5-4C39-A9B8-CBC92C9B46BF}" type="slidenum">
              <a:rPr lang="en-AE" smtClean="0"/>
              <a:t>17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91098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Overall, this project focused on preparing and integrating multiple data sources into a usable dataset.</a:t>
            </a:r>
          </a:p>
          <a:p>
            <a:r>
              <a:rPr lang="en-US" dirty="0"/>
              <a:t>We worked through key data wrangling steps, including cleaning, harmonization, and combining datasets at the county level.</a:t>
            </a:r>
          </a:p>
          <a:p>
            <a:r>
              <a:rPr lang="en-US" dirty="0"/>
              <a:t>The analysis we conducted helped confirm that the data is producing meaningful and expected relationships between hesitancy, social determinants, and mortality.</a:t>
            </a:r>
          </a:p>
          <a:p>
            <a:r>
              <a:rPr lang="en-US" dirty="0"/>
              <a:t>Overall, this gives us confidence that the dataset is well-prepared and suitable for further analysis.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BB8F-2DF5-4C39-A9B8-CBC92C9B46BF}" type="slidenum">
              <a:rPr lang="en-AE" smtClean="0"/>
              <a:t>18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4362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rthcarolinahealthnews.org/2020/10/01/recruiting-diverse-participants-for-covid-vaccine-trials-a-challenge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d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dc.gov/Case-Surveillance/Weekly-United-States-COVID-19-Cases-and-Deaths-by-/pwn4-m3yp/about_data" TargetMode="External"/><Relationship Id="rId2" Type="http://schemas.openxmlformats.org/officeDocument/2006/relationships/hyperlink" Target="https://www.kaggle.com/code/jaykumar1607/covid-vaccine-hesitancy-usa-plotly-mapbox/notebook#Demographic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talog.data.gov/dataset/sdoh-measures-for-county-acs-2017-202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gNandina/BMI6016_Group5" TargetMode="External"/><Relationship Id="rId2" Type="http://schemas.openxmlformats.org/officeDocument/2006/relationships/hyperlink" Target="https://data.cdc.gov/Case-Surveillance/Weekly-United-States-COVID-19-Cases-and-Deaths-by-/pwn4-m3yp/about_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atalog.data.gov/dataset/sdoh-measures-for-county-acs-2017-2021" TargetMode="External"/><Relationship Id="rId5" Type="http://schemas.openxmlformats.org/officeDocument/2006/relationships/hyperlink" Target="https://www.kaggle.com/code/jaykumar1607/covid-vaccine-hesitancy-usa-plotly-mapbox/notebook" TargetMode="External"/><Relationship Id="rId4" Type="http://schemas.openxmlformats.org/officeDocument/2006/relationships/hyperlink" Target="https://github.com/CSSEGISandData/COVID-19/blob/master/csse_covid_19_data/READM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ne of vials">
            <a:extLst>
              <a:ext uri="{FF2B5EF4-FFF2-40B4-BE49-F238E27FC236}">
                <a16:creationId xmlns:a16="http://schemas.microsoft.com/office/drawing/2014/main" id="{3BFE3CD2-D0F1-BE49-8502-EAD75BDA41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339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COVID-19 Vaccine Hesitancy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Kim </a:t>
            </a:r>
            <a:r>
              <a:rPr lang="en-US" sz="2000">
                <a:solidFill>
                  <a:schemeClr val="bg1"/>
                </a:solidFill>
              </a:rPr>
              <a:t>Lanaghen</a:t>
            </a:r>
            <a:r>
              <a:rPr lang="en-US" sz="2000" dirty="0">
                <a:solidFill>
                  <a:schemeClr val="bg1"/>
                </a:solidFill>
              </a:rPr>
              <a:t>, Chang Ni, Abbey Marye, Sandi </a:t>
            </a:r>
            <a:r>
              <a:rPr lang="en-US" sz="2000">
                <a:solidFill>
                  <a:schemeClr val="bg1"/>
                </a:solidFill>
              </a:rPr>
              <a:t>Alshahwan</a:t>
            </a:r>
            <a:r>
              <a:rPr lang="en-US" sz="2000" dirty="0">
                <a:solidFill>
                  <a:schemeClr val="bg1"/>
                </a:solidFill>
              </a:rPr>
              <a:t>, and Clara Garcia 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etting diverse subjects for COVID vaccine trials a challenge | NC Health News">
            <a:extLst>
              <a:ext uri="{FF2B5EF4-FFF2-40B4-BE49-F238E27FC236}">
                <a16:creationId xmlns:a16="http://schemas.microsoft.com/office/drawing/2014/main" id="{DCD44B6A-82E4-C8CA-98D6-D79BC9E9E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202" r="16657" b="-1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8" name="Freeform: Shape 14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6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19315-DE62-3A40-733F-1EEA784F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953250"/>
            <a:ext cx="5923956" cy="1243584"/>
          </a:xfrm>
        </p:spPr>
        <p:txBody>
          <a:bodyPr anchor="ctr">
            <a:normAutofit/>
          </a:bodyPr>
          <a:lstStyle/>
          <a:p>
            <a:r>
              <a:rPr lang="en-US" sz="3600"/>
              <a:t>Background and Motivation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29431-DA6B-B7B1-30AC-0D1C86B9E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 dirty="0">
                <a:highlight>
                  <a:srgbClr val="FFFFFF"/>
                </a:highlight>
                <a:ea typeface="+mn-lt"/>
                <a:cs typeface="+mn-lt"/>
              </a:rPr>
              <a:t>Attitudes toward COVID-19 and its vaccine have been contested since its rollout in early 2021.</a:t>
            </a:r>
          </a:p>
          <a:p>
            <a:r>
              <a:rPr lang="en-US" sz="1300" dirty="0">
                <a:highlight>
                  <a:srgbClr val="FFFFFF"/>
                </a:highlight>
                <a:ea typeface="+mn-lt"/>
                <a:cs typeface="+mn-lt"/>
              </a:rPr>
              <a:t>From the early stages of the COVID-19 pandemic in 2020, public responses have varied widely across geographic regions</a:t>
            </a:r>
          </a:p>
          <a:p>
            <a:r>
              <a:rPr lang="en-US" sz="1300" dirty="0">
                <a:highlight>
                  <a:srgbClr val="FFFFFF"/>
                </a:highlight>
                <a:ea typeface="+mn-lt"/>
                <a:cs typeface="+mn-lt"/>
              </a:rPr>
              <a:t>Media has provoked differences in risk perception, trust in public guidance, and personal health beliefs. </a:t>
            </a:r>
          </a:p>
          <a:p>
            <a:r>
              <a:rPr lang="en-US" sz="1300" dirty="0">
                <a:highlight>
                  <a:srgbClr val="FFFFFF"/>
                </a:highlight>
                <a:ea typeface="+mn-lt"/>
                <a:cs typeface="+mn-lt"/>
              </a:rPr>
              <a:t>Using both survey and numerical data to examine how collective beliefs and individual choices we will  have a measurable effect on population outcomes. </a:t>
            </a:r>
          </a:p>
          <a:p>
            <a:r>
              <a:rPr lang="en-US" sz="1300" dirty="0">
                <a:highlight>
                  <a:srgbClr val="FFFFFF"/>
                </a:highlight>
                <a:ea typeface="+mn-lt"/>
                <a:cs typeface="+mn-lt"/>
              </a:rPr>
              <a:t>By linking opinion data to epidemiological trends, this project highlights how vaccine acceptance coincides with community health and well-being. </a:t>
            </a:r>
          </a:p>
          <a:p>
            <a:r>
              <a:rPr lang="en-US" sz="1300" dirty="0">
                <a:highlight>
                  <a:srgbClr val="FFFFFF"/>
                </a:highlight>
                <a:ea typeface="+mn-lt"/>
                <a:cs typeface="+mn-lt"/>
              </a:rPr>
              <a:t>Aim to underscore the importance of reliable information dissemination and evidence-based decision-making without making assumptions beyond what the data can support.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063A3-21FE-ED58-F08A-C9ABB3CAFC87}"/>
              </a:ext>
            </a:extLst>
          </p:cNvPr>
          <p:cNvSpPr txBox="1"/>
          <p:nvPr/>
        </p:nvSpPr>
        <p:spPr>
          <a:xfrm>
            <a:off x="9739085" y="6657945"/>
            <a:ext cx="245291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northcarolinahealthnews.org/2020/10/01/recruiting-diverse-participants-for-covid-vaccine-trials-a-challeng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040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893B9-233C-8927-67BF-456F62BA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Questions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7171F55-2B69-BFC5-2FE9-1CFCBED6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highlight>
                  <a:srgbClr val="FFFFFF"/>
                </a:highlight>
              </a:rPr>
              <a:t>Is there data complete enough to create a new dataset to derive meaningful insights from?</a:t>
            </a:r>
          </a:p>
          <a:p>
            <a:r>
              <a:rPr lang="en-US" sz="2000" dirty="0">
                <a:highlight>
                  <a:srgbClr val="FFFFFF"/>
                </a:highlight>
                <a:ea typeface="+mn-lt"/>
                <a:cs typeface="+mn-lt"/>
              </a:rPr>
              <a:t>Is there a measurable correlation between vaccine attitudes and weekly COVID-19 death rates across U.S. states and counties?</a:t>
            </a:r>
            <a:endParaRPr lang="en-US" sz="2000" dirty="0">
              <a:highlight>
                <a:srgbClr val="FFFFFF"/>
              </a:highlight>
            </a:endParaRPr>
          </a:p>
          <a:p>
            <a:r>
              <a:rPr lang="en-US" sz="2000" dirty="0">
                <a:highlight>
                  <a:srgbClr val="FFFFFF"/>
                </a:highlight>
                <a:ea typeface="+mn-lt"/>
                <a:cs typeface="+mn-lt"/>
              </a:rPr>
              <a:t>How do these relationships vary geographically and over different phases of the pandemic?</a:t>
            </a:r>
          </a:p>
          <a:p>
            <a:r>
              <a:rPr lang="en-US" sz="2000" dirty="0">
                <a:highlight>
                  <a:srgbClr val="FFFFFF"/>
                </a:highlight>
              </a:rPr>
              <a:t>Do Social Determinates of Health exhibit any correlation to either vaccine sentiments?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ea typeface="+mn-lt"/>
                <a:cs typeface="+mn-lt"/>
              </a:rPr>
              <a:t>Do regions with consistently lower vaccine acceptance exhibit different mortality trends compared to regions with high acceptance?</a:t>
            </a:r>
            <a:endParaRPr lang="en-US" sz="2000" dirty="0"/>
          </a:p>
          <a:p>
            <a:pPr marL="0" indent="0">
              <a:buNone/>
            </a:pPr>
            <a:endParaRPr lang="en-US" sz="22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87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40DFF-FCE6-21C6-6CD0-98D36F7F6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Objectives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A73F31-4ABD-D0E6-1F45-05870C4A0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94851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537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213359-B2E2-8FC2-04A7-FBBAF7DA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Data Sources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375F9-F5C9-A5D4-A944-122EDEF14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For our project, we will use three datasets. One captures vaccine attitudes, the second COVID-19 mortality trends, and the third SDOH by county from 2017-2021.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Vaccine Hesitancy (taken 5/27/2021-6/7/2021):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  <a:hlinkClick r:id="rId2"/>
              </a:rPr>
              <a:t>https://www.kaggle.com/code/jaykumar1607/covid-vaccine-hesitancy-usa-plotly-mapbox/notebook#Demographics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Weekly death counts by State: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  <a:hlinkClick r:id="rId3"/>
              </a:rPr>
              <a:t>https://data.cdc.gov/Case-Surveillance/Weekly-United-States-COVID-19-Cases-and-Deaths-by-/pwn4-m3yp/about_data</a:t>
            </a:r>
            <a:endParaRPr lang="en-US" sz="2000" dirty="0"/>
          </a:p>
          <a:p>
            <a:r>
              <a:rPr lang="en-US" sz="2000"/>
              <a:t>Social Determinants of Health by County (2017-2021):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     </a:t>
            </a:r>
            <a:r>
              <a:rPr lang="en-US" sz="2000" dirty="0">
                <a:ea typeface="+mn-lt"/>
                <a:cs typeface="+mn-lt"/>
                <a:hlinkClick r:id="rId4"/>
              </a:rPr>
              <a:t>https://catalog.data.gov/dataset/sdoh-measures-for-county-acs-2017-2021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04340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F1011-61E2-EDD7-ABC4-9D287CC0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Data Merge</a:t>
            </a: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98FD4B07-85C4-E601-B574-55C93B26E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028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297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D9D46-2C34-86FC-92C7-372B410A2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Data Quality Assessment </a:t>
            </a:r>
          </a:p>
          <a:p>
            <a:pPr algn="l"/>
            <a:endParaRPr lang="en-US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6D952-652C-74E3-BB05-330EE92EF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/>
              <a:t>Based on Weiskopf and Weng Framework 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7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0423C-49FE-DD99-6830-32FB1396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Completeness 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328B4-A53E-DF00-A95C-D385169F1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1263" y="457200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200"/>
          </a:p>
          <a:p>
            <a:endParaRPr lang="en-US" sz="2200"/>
          </a:p>
        </p:txBody>
      </p:sp>
      <p:pic>
        <p:nvPicPr>
          <p:cNvPr id="10" name="Picture 9" descr="A graph with a blue line&#10;&#10;AI-generated content may be incorrect.">
            <a:extLst>
              <a:ext uri="{FF2B5EF4-FFF2-40B4-BE49-F238E27FC236}">
                <a16:creationId xmlns:a16="http://schemas.microsoft.com/office/drawing/2014/main" id="{22ED76E7-6B52-37DD-A5AC-552CD6A0D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248" y="646321"/>
            <a:ext cx="4018493" cy="5565793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F8996E-9342-9D24-3584-8B012D63D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02" y="2375940"/>
            <a:ext cx="4514033" cy="36789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468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B8A7-8F97-4099-0C0D-50052161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D5A0-5102-D6B5-F69B-42CC063E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Completeness COVID-19 Deaths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8847-41B3-1C7A-1EB4-EEBC7BDF0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390" y="1696811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000"/>
              <a:t>Overall completeness: 99.9995% </a:t>
            </a:r>
            <a:endParaRPr lang="en-US" sz="2000" b="1"/>
          </a:p>
          <a:p>
            <a:pPr marL="457200" indent="-457200"/>
            <a:r>
              <a:rPr lang="en-US" sz="2000"/>
              <a:t>Only 10 rows missing FIPS</a:t>
            </a:r>
          </a:p>
          <a:p>
            <a:pPr marL="457200" indent="-457200"/>
            <a:r>
              <a:rPr lang="en-US" sz="2000"/>
              <a:t>6 missing county names (Admin2)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4AA93-824B-F8CA-06FB-2FD77609B4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3C0726C-ED9F-AD5C-8348-79A7E6847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68" y="3310046"/>
            <a:ext cx="3865626" cy="1656969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graph of missing values&#10;&#10;AI-generated content may be incorrect.">
            <a:extLst>
              <a:ext uri="{FF2B5EF4-FFF2-40B4-BE49-F238E27FC236}">
                <a16:creationId xmlns:a16="http://schemas.microsoft.com/office/drawing/2014/main" id="{89C00677-FBF0-7B70-9A37-2275CE8D0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420" y="1511300"/>
            <a:ext cx="6063849" cy="3835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91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B8A7AF-DC62-7110-7789-1258BA5C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F2E0EB7-DA76-7ADC-F980-C8543C08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5B4A8-BD05-3E8D-FA8B-6C21DFC5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Correctness COVID-19 Deaths 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AD23050-A163-CD2D-131B-FC58D6830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54CE9-866B-1B3B-52D1-65E79FC6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17" y="2083982"/>
            <a:ext cx="5621453" cy="3681792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ircle with numbers and a rainbow&#10;&#10;AI-generated content may be incorrect.">
            <a:extLst>
              <a:ext uri="{FF2B5EF4-FFF2-40B4-BE49-F238E27FC236}">
                <a16:creationId xmlns:a16="http://schemas.microsoft.com/office/drawing/2014/main" id="{41E3A50A-4A60-534B-2160-7D950B8FC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120" y="2293937"/>
            <a:ext cx="4924425" cy="32861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246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E2FC1-8577-61B4-6300-BAD15066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5564101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Correctness COVID-19 Deaths 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62E51-B90E-A1A3-8C2F-EE9467A89DB9}"/>
              </a:ext>
            </a:extLst>
          </p:cNvPr>
          <p:cNvSpPr txBox="1"/>
          <p:nvPr/>
        </p:nvSpPr>
        <p:spPr>
          <a:xfrm>
            <a:off x="640080" y="2706624"/>
            <a:ext cx="5769719" cy="34838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Data modification records indicate: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"</a:t>
            </a:r>
            <a:r>
              <a:rPr lang="en-US" sz="2200" i="0"/>
              <a:t>March 19, 2021: North Carolina, US | Removal of 99 deaths that did not fit the most recent version of the state definition of a COVID-19 death</a:t>
            </a:r>
            <a:r>
              <a:rPr lang="en-US" sz="2200"/>
              <a:t>"(Johns Hopkins University CSSE, 2021).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 cause of the South Carolina correction is unknown. No specific documentation was found in the JHU CSSE modification records.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15" name="Picture 14" descr="A blue and red diagram&#10;&#10;AI-generated content may be incorrect.">
            <a:extLst>
              <a:ext uri="{FF2B5EF4-FFF2-40B4-BE49-F238E27FC236}">
                <a16:creationId xmlns:a16="http://schemas.microsoft.com/office/drawing/2014/main" id="{49080316-3771-340E-2D44-C79D9CAE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078" y="987259"/>
            <a:ext cx="4703644" cy="3456387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96B0971-113F-D73E-4EF2-387B6BD93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602" y="4533469"/>
            <a:ext cx="3995928" cy="92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01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20CBC-8343-2BC7-96C1-9CC287F8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/>
              <a:t>Concordance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D3317-370F-F586-E774-FA1C0DC3F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4" y="2597102"/>
            <a:ext cx="3438906" cy="32072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/>
              <a:t>FIPS Codes checked to be 5 digits</a:t>
            </a:r>
          </a:p>
          <a:p>
            <a:r>
              <a:rPr lang="en-US" sz="1800"/>
              <a:t>Cumulative COVID-19 death count is not expected to decrease over time </a:t>
            </a:r>
          </a:p>
          <a:p>
            <a:r>
              <a:rPr lang="en-US" sz="1800"/>
              <a:t>No COVID-19 deaths before 2020 </a:t>
            </a:r>
          </a:p>
          <a:p>
            <a:r>
              <a:rPr lang="en-US" sz="1800" b="1">
                <a:latin typeface="Aptos"/>
              </a:rPr>
              <a:t>Counties where end of 2021 death count is less than at the start of 2021: 15</a:t>
            </a:r>
          </a:p>
          <a:p>
            <a:endParaRPr lang="en-US" sz="1700"/>
          </a:p>
          <a:p>
            <a:endParaRPr lang="en-US" sz="1700"/>
          </a:p>
        </p:txBody>
      </p:sp>
      <p:pic>
        <p:nvPicPr>
          <p:cNvPr id="4" name="Picture 3" descr="A graph of death in the beginning&#10;&#10;AI-generated content may be incorrect.">
            <a:extLst>
              <a:ext uri="{FF2B5EF4-FFF2-40B4-BE49-F238E27FC236}">
                <a16:creationId xmlns:a16="http://schemas.microsoft.com/office/drawing/2014/main" id="{1DC5424C-9ABD-A0A5-7A32-414187F1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137" y="987185"/>
            <a:ext cx="6002770" cy="464554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8541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51A46-3233-566D-13AE-156A1CAB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508B1-E006-A5F6-6A0D-CD39DFE81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Concordance</a:t>
            </a:r>
          </a:p>
        </p:txBody>
      </p:sp>
      <p:pic>
        <p:nvPicPr>
          <p:cNvPr id="8" name="Content Placeholder 5" descr="A graph with red dots&#10;&#10;AI-generated content may be incorrect.">
            <a:extLst>
              <a:ext uri="{FF2B5EF4-FFF2-40B4-BE49-F238E27FC236}">
                <a16:creationId xmlns:a16="http://schemas.microsoft.com/office/drawing/2014/main" id="{ACC9DD4F-AB52-B19C-E171-F6B732621BAB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72" y="2365285"/>
            <a:ext cx="5358851" cy="3938756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A graph with red lines&#10;&#10;AI-generated content may be incorrect.">
            <a:extLst>
              <a:ext uri="{FF2B5EF4-FFF2-40B4-BE49-F238E27FC236}">
                <a16:creationId xmlns:a16="http://schemas.microsoft.com/office/drawing/2014/main" id="{8FC3D2B9-191F-93D4-F621-C23997CCA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204" y="2365285"/>
            <a:ext cx="5432767" cy="3938756"/>
          </a:xfrm>
          <a:prstGeom prst="rect">
            <a:avLst/>
          </a:prstGeom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2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433BB-46AB-FE15-799A-6463B15C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2CD3C-2E61-9636-ECCF-84ADF43B4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/>
              <a:t>Plausibility 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EE3421-6E59-762A-AEF1-5C4452F3A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No counties with less than 100,000 deaths</a:t>
            </a:r>
          </a:p>
          <a:p>
            <a:r>
              <a:rPr lang="en-US" sz="2200">
                <a:ea typeface="+mn-lt"/>
                <a:cs typeface="+mn-lt"/>
              </a:rPr>
              <a:t>115 rows with zero population were identified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Correspond to 'Unassigned' and 'Out of State' placeholders rather than real locations, and are expected to have no population value</a:t>
            </a:r>
            <a:endParaRPr lang="en-US" sz="2200"/>
          </a:p>
        </p:txBody>
      </p:sp>
      <p:pic>
        <p:nvPicPr>
          <p:cNvPr id="8" name="Picture 7" descr="A red and blue squares&#10;&#10;AI-generated content may be incorrect.">
            <a:extLst>
              <a:ext uri="{FF2B5EF4-FFF2-40B4-BE49-F238E27FC236}">
                <a16:creationId xmlns:a16="http://schemas.microsoft.com/office/drawing/2014/main" id="{6BD6D5F7-0091-ED2E-6A99-C9CD5EA74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174" y="3030982"/>
            <a:ext cx="4014216" cy="325151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68F589-316E-978A-DA4A-30EB162B1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478" y="1103764"/>
            <a:ext cx="2423893" cy="17529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8099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1053E-3695-0C9D-3B08-74B4B8C0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/>
              <a:t>Currency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34D83-9B1F-D315-6CCE-054F5EAE6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COVID-19 deaths data was all up to date for 2021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Some states/territories stopped recording death counts before 2023 </a:t>
            </a:r>
          </a:p>
        </p:txBody>
      </p:sp>
    </p:spTree>
    <p:extLst>
      <p:ext uri="{BB962C8B-B14F-4D97-AF65-F5344CB8AC3E}">
        <p14:creationId xmlns:p14="http://schemas.microsoft.com/office/powerpoint/2010/main" val="496543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487A2-B483-622A-53CB-C08A7CB0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2282A9-86DC-18A0-3CF4-9D515576E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6AEA3-B60B-8A3D-04DB-749C2E6F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Results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1263EC2E-575B-E3E4-FF49-E44003F61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BFDE9CB-A27E-F101-8D01-05DECACC7A98}"/>
              </a:ext>
            </a:extLst>
          </p:cNvPr>
          <p:cNvSpPr txBox="1">
            <a:spLocks/>
          </p:cNvSpPr>
          <p:nvPr/>
        </p:nvSpPr>
        <p:spPr>
          <a:xfrm>
            <a:off x="835723" y="1244206"/>
            <a:ext cx="6291072" cy="728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Correlations between SDOH and Vaccine Hesitancy</a:t>
            </a:r>
            <a:br>
              <a:rPr lang="en-US"/>
            </a:br>
            <a:endParaRPr lang="en-AE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8DEDFF6-9269-B6A3-6D64-98F970240A7F}"/>
              </a:ext>
            </a:extLst>
          </p:cNvPr>
          <p:cNvSpPr txBox="1">
            <a:spLocks/>
          </p:cNvSpPr>
          <p:nvPr/>
        </p:nvSpPr>
        <p:spPr>
          <a:xfrm>
            <a:off x="938213" y="1976982"/>
            <a:ext cx="5157787" cy="4249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Predictors:</a:t>
            </a:r>
            <a:endParaRPr lang="en-AE" b="1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DA711F1-7D60-7E0B-B0E9-E5B8DFE5031C}"/>
              </a:ext>
            </a:extLst>
          </p:cNvPr>
          <p:cNvSpPr txBox="1">
            <a:spLocks/>
          </p:cNvSpPr>
          <p:nvPr/>
        </p:nvSpPr>
        <p:spPr>
          <a:xfrm>
            <a:off x="937324" y="2605604"/>
            <a:ext cx="5408612" cy="30915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Poverty →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0.41</a:t>
            </a:r>
          </a:p>
          <a:p>
            <a:r>
              <a:rPr lang="en-US"/>
              <a:t>No broadband →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0.39</a:t>
            </a:r>
          </a:p>
          <a:p>
            <a:r>
              <a:rPr lang="en-US"/>
              <a:t>No high school diploma→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0.28</a:t>
            </a:r>
          </a:p>
          <a:p>
            <a:r>
              <a:rPr lang="en-US"/>
              <a:t>Single-parent →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0.19</a:t>
            </a:r>
          </a:p>
          <a:p>
            <a:r>
              <a:rPr lang="en-US"/>
              <a:t>Unemployment →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0.16</a:t>
            </a:r>
          </a:p>
          <a:p>
            <a:r>
              <a:rPr lang="en-US"/>
              <a:t>Housing cost burden → </a:t>
            </a:r>
            <a:r>
              <a:rPr lang="en-US">
                <a:solidFill>
                  <a:srgbClr val="FF0000"/>
                </a:solidFill>
              </a:rPr>
              <a:t>-</a:t>
            </a:r>
            <a:r>
              <a:rPr lang="en-US"/>
              <a:t>0.15</a:t>
            </a:r>
          </a:p>
          <a:p>
            <a:endParaRPr lang="en-AE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8123E92-B0CB-762A-6ED1-9538A91C97EE}"/>
              </a:ext>
            </a:extLst>
          </p:cNvPr>
          <p:cNvSpPr txBox="1">
            <a:spLocks/>
          </p:cNvSpPr>
          <p:nvPr/>
        </p:nvSpPr>
        <p:spPr>
          <a:xfrm>
            <a:off x="6335486" y="1976764"/>
            <a:ext cx="5177092" cy="44596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Weak / not significant: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1C5A8B1C-5813-4B64-4EB9-90AA523802DF}"/>
              </a:ext>
            </a:extLst>
          </p:cNvPr>
          <p:cNvSpPr txBox="1">
            <a:spLocks/>
          </p:cNvSpPr>
          <p:nvPr/>
        </p:nvSpPr>
        <p:spPr>
          <a:xfrm>
            <a:off x="6341582" y="2607860"/>
            <a:ext cx="5183188" cy="26191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Age 65+ → </a:t>
            </a:r>
            <a:r>
              <a:rPr lang="en-US">
                <a:solidFill>
                  <a:srgbClr val="FF0000"/>
                </a:solidFill>
              </a:rPr>
              <a:t>-</a:t>
            </a:r>
            <a:r>
              <a:rPr lang="en-US"/>
              <a:t>0.06</a:t>
            </a:r>
          </a:p>
          <a:p>
            <a:r>
              <a:rPr lang="en-US"/>
              <a:t>Minority status →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0.05</a:t>
            </a:r>
          </a:p>
          <a:p>
            <a:r>
              <a:rPr lang="en-US"/>
              <a:t>Crowding →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0.04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730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863BAF6-0CB4-5FAA-930C-5548A7305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Hesitancy and SDOH in Relation to Mortality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0A3195-7338-C6EC-E645-4F515A843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Hesitancy significant in all models</a:t>
            </a:r>
          </a:p>
          <a:p>
            <a:r>
              <a:rPr lang="en-US" sz="2400"/>
              <a:t>Betas show direction of association</a:t>
            </a:r>
          </a:p>
          <a:p>
            <a:r>
              <a:rPr lang="en-US" sz="2400"/>
              <a:t>R² shows model strength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FA0B5D1-159E-B1F9-E8C7-F0F075FB422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02278959"/>
              </p:ext>
            </p:extLst>
          </p:nvPr>
        </p:nvGraphicFramePr>
        <p:xfrm>
          <a:off x="5557710" y="880872"/>
          <a:ext cx="5608957" cy="519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9794">
                  <a:extLst>
                    <a:ext uri="{9D8B030D-6E8A-4147-A177-3AD203B41FA5}">
                      <a16:colId xmlns:a16="http://schemas.microsoft.com/office/drawing/2014/main" val="2236796626"/>
                    </a:ext>
                  </a:extLst>
                </a:gridCol>
                <a:gridCol w="1636819">
                  <a:extLst>
                    <a:ext uri="{9D8B030D-6E8A-4147-A177-3AD203B41FA5}">
                      <a16:colId xmlns:a16="http://schemas.microsoft.com/office/drawing/2014/main" val="487663463"/>
                    </a:ext>
                  </a:extLst>
                </a:gridCol>
                <a:gridCol w="1392344">
                  <a:extLst>
                    <a:ext uri="{9D8B030D-6E8A-4147-A177-3AD203B41FA5}">
                      <a16:colId xmlns:a16="http://schemas.microsoft.com/office/drawing/2014/main" val="4068257510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SDOH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Beta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R²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741985983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US" sz="3300"/>
                        <a:t>No broadband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+8.47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0.26</a:t>
                      </a:r>
                      <a:endParaRPr lang="en-AE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51435365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Poverty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+7.37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0.24</a:t>
                      </a:r>
                      <a:endParaRPr lang="en-AE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646964371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r>
                        <a:rPr lang="en-US" sz="3300"/>
                        <a:t>No high school diploma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+9.40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0.23</a:t>
                      </a:r>
                      <a:endParaRPr lang="en-AE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55060894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Age 65+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+8.51</a:t>
                      </a:r>
                      <a:endParaRPr lang="en-AE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0.19</a:t>
                      </a:r>
                      <a:endParaRPr lang="en-AE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66391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845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D9FAB-8F63-C202-AFF8-23E07E92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  <a:endParaRPr lang="en-A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0E0D0CF3-F131-A808-5D7B-0E32587DF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2200"/>
              <a:t>Successfully integrated multiple datasets (hesitancy, mortality, SDOH)</a:t>
            </a:r>
          </a:p>
          <a:p>
            <a:r>
              <a:rPr lang="en-US" sz="2200"/>
              <a:t>Performed data cleaning, harmonization, and quality checks</a:t>
            </a:r>
          </a:p>
          <a:p>
            <a:r>
              <a:rPr lang="en-US" sz="2200"/>
              <a:t>Created a consistent, county-level analytic dataset</a:t>
            </a:r>
          </a:p>
          <a:p>
            <a:r>
              <a:rPr lang="en-US" sz="2200"/>
              <a:t>Analysis showed meaningful relationships across variables</a:t>
            </a:r>
          </a:p>
          <a:p>
            <a:r>
              <a:rPr lang="en-US" sz="2200"/>
              <a:t>Dataset is ready for further analysis and interpretation</a:t>
            </a:r>
            <a:endParaRPr lang="en-AE" sz="2200"/>
          </a:p>
        </p:txBody>
      </p:sp>
    </p:spTree>
    <p:extLst>
      <p:ext uri="{BB962C8B-B14F-4D97-AF65-F5344CB8AC3E}">
        <p14:creationId xmlns:p14="http://schemas.microsoft.com/office/powerpoint/2010/main" val="1273712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8EF85-DF7D-3BD7-4E0C-2466EE9A9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/>
              <a:t>References </a:t>
            </a:r>
            <a:br>
              <a:rPr lang="en-US" sz="3700"/>
            </a:br>
            <a:endParaRPr 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973EA-0A1F-152F-C44E-C5C5E2839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354943"/>
            <a:ext cx="10168128" cy="39490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ea typeface="+mn-lt"/>
                <a:cs typeface="+mn-lt"/>
              </a:rPr>
              <a:t>Centers for Disease Control and Prevention. (n.d.). </a:t>
            </a:r>
            <a:r>
              <a:rPr lang="en-US" sz="1800" i="1">
                <a:ea typeface="+mn-lt"/>
                <a:cs typeface="+mn-lt"/>
              </a:rPr>
              <a:t>Weekly United States COVID-19 cases and deaths by state.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>
                <a:ea typeface="+mn-lt"/>
                <a:cs typeface="+mn-lt"/>
                <a:hlinkClick r:id="rId2"/>
              </a:rPr>
              <a:t>https://data.cdc.gov/Case-Surveillance/Weekly-United-States-COVID-19-Cases-and-Deaths-by-/pwn4-m3yp/about_data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ChangNandina. (n.d.). </a:t>
            </a:r>
            <a:r>
              <a:rPr lang="en-US" sz="1800" i="1">
                <a:ea typeface="+mn-lt"/>
                <a:cs typeface="+mn-lt"/>
              </a:rPr>
              <a:t>BMI6016_Group5.</a:t>
            </a:r>
            <a:r>
              <a:rPr lang="en-US" sz="1800">
                <a:ea typeface="+mn-lt"/>
                <a:cs typeface="+mn-lt"/>
              </a:rPr>
              <a:t> GitHub. </a:t>
            </a:r>
            <a:r>
              <a:rPr lang="en-US" sz="1800">
                <a:ea typeface="+mn-lt"/>
                <a:cs typeface="+mn-lt"/>
                <a:hlinkClick r:id="rId3"/>
              </a:rPr>
              <a:t>https://github.com/ChangNandina/BMI6016_Group5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Johns Hopkins University Center for Systems Science and Engineering. (2021). </a:t>
            </a:r>
            <a:r>
              <a:rPr lang="en-US" sz="1800" i="1">
                <a:ea typeface="+mn-lt"/>
                <a:cs typeface="+mn-lt"/>
              </a:rPr>
              <a:t>COVID-19 data repository README.</a:t>
            </a:r>
            <a:r>
              <a:rPr lang="en-US" sz="1800">
                <a:ea typeface="+mn-lt"/>
                <a:cs typeface="+mn-lt"/>
              </a:rPr>
              <a:t> GitHub. </a:t>
            </a:r>
            <a:r>
              <a:rPr lang="en-US" sz="1800">
                <a:ea typeface="+mn-lt"/>
                <a:cs typeface="+mn-lt"/>
                <a:hlinkClick r:id="rId4"/>
              </a:rPr>
              <a:t>https://github.com/CSSEGISandData/COVID-19/blob/master/csse_covid_19_data/README.md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Kumaravel, J. (2021). </a:t>
            </a:r>
            <a:r>
              <a:rPr lang="en-US" sz="1800" i="1">
                <a:ea typeface="+mn-lt"/>
                <a:cs typeface="+mn-lt"/>
              </a:rPr>
              <a:t>COVID vaccine hesitancy USA - Plotly &amp; </a:t>
            </a:r>
            <a:r>
              <a:rPr lang="en-US" sz="1800" i="1" err="1">
                <a:ea typeface="+mn-lt"/>
                <a:cs typeface="+mn-lt"/>
              </a:rPr>
              <a:t>Mapbox</a:t>
            </a:r>
            <a:r>
              <a:rPr lang="en-US" sz="1800">
                <a:ea typeface="+mn-lt"/>
                <a:cs typeface="+mn-lt"/>
              </a:rPr>
              <a:t> [Data survey conducted May 27 – June 7, 2021]. Kaggle. </a:t>
            </a:r>
            <a:r>
              <a:rPr lang="en-US" sz="1800">
                <a:ea typeface="+mn-lt"/>
                <a:cs typeface="+mn-lt"/>
                <a:hlinkClick r:id="rId5"/>
              </a:rPr>
              <a:t>https://www.kaggle.com/code/jaykumar1607/covid-vaccine-hesitancy-usa-plotly-mapbox/notebook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U.S. Department of Health and Human Services. (2021). </a:t>
            </a:r>
            <a:r>
              <a:rPr lang="en-US" sz="1800" i="1">
                <a:ea typeface="+mn-lt"/>
                <a:cs typeface="+mn-lt"/>
              </a:rPr>
              <a:t>SDOH measures for county ACS 2017-2021.</a:t>
            </a:r>
            <a:r>
              <a:rPr lang="en-US" sz="1800">
                <a:ea typeface="+mn-lt"/>
                <a:cs typeface="+mn-lt"/>
              </a:rPr>
              <a:t> Data.gov. </a:t>
            </a:r>
            <a:r>
              <a:rPr lang="en-US" sz="1800">
                <a:ea typeface="+mn-lt"/>
                <a:cs typeface="+mn-lt"/>
                <a:hlinkClick r:id="rId6"/>
              </a:rPr>
              <a:t>https://catalog.data.gov/dataset/sdoh-measures-for-county-acs-2017-2021</a:t>
            </a:r>
            <a:endParaRPr lang="en-US" sz="18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517914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1562</TotalTime>
  <Words>1571</Words>
  <Application>Microsoft Office PowerPoint</Application>
  <PresentationFormat>Widescreen</PresentationFormat>
  <Paragraphs>153</Paragraphs>
  <Slides>19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COVID-19 Vaccine Hesitancy</vt:lpstr>
      <vt:lpstr>Background and Motivation</vt:lpstr>
      <vt:lpstr>Questions</vt:lpstr>
      <vt:lpstr>Objectives</vt:lpstr>
      <vt:lpstr>Data Sources</vt:lpstr>
      <vt:lpstr>Data Merge</vt:lpstr>
      <vt:lpstr>Data Quality Assessment  </vt:lpstr>
      <vt:lpstr>Completeness </vt:lpstr>
      <vt:lpstr>Completeness COVID-19 Deaths  </vt:lpstr>
      <vt:lpstr>Correctness COVID-19 Deaths </vt:lpstr>
      <vt:lpstr>Correctness COVID-19 Deaths </vt:lpstr>
      <vt:lpstr>Concordance</vt:lpstr>
      <vt:lpstr>Concordance</vt:lpstr>
      <vt:lpstr>Plausibility </vt:lpstr>
      <vt:lpstr>Currency</vt:lpstr>
      <vt:lpstr>Results</vt:lpstr>
      <vt:lpstr>Hesitancy and SDOH in Relation to Mortality</vt:lpstr>
      <vt:lpstr>Conclusion</vt:lpstr>
      <vt:lpstr>References 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Kim Lanaghen</cp:lastModifiedBy>
  <cp:revision>193</cp:revision>
  <dcterms:created xsi:type="dcterms:W3CDTF">2026-04-02T01:59:21Z</dcterms:created>
  <dcterms:modified xsi:type="dcterms:W3CDTF">2026-04-21T00:20:41Z</dcterms:modified>
</cp:coreProperties>
</file>